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94944" y="1225296"/>
            <a:ext cx="7315200" cy="1371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3500" b="1" i="0">
                <a:solidFill>
                  <a:srgbClr val="F7FAFC"/>
                </a:solidFill>
                <a:latin typeface="Aptos"/>
              </a:rPr>
              <a:t>Hospital Readmission
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07792"/>
            <a:ext cx="731520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900" b="0" i="0">
                <a:solidFill>
                  <a:srgbClr val="67D5E8"/>
                </a:solidFill>
                <a:latin typeface="Aptos"/>
              </a:rPr>
              <a:t>Predictive analytics to support better discharge planning and follow-up prioritization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3767328"/>
            <a:ext cx="4069080" cy="0"/>
          </a:xfrm>
          <a:prstGeom prst="line">
            <a:avLst/>
          </a:prstGeom>
          <a:ln w="3810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4050791"/>
            <a:ext cx="6675120" cy="7132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 i="0">
                <a:solidFill>
                  <a:srgbClr val="A9B8C9"/>
                </a:solidFill>
                <a:latin typeface="Aptos"/>
              </a:rPr>
              <a:t>A full-stack ML proof of concept — with an evidence-first path toward responsible healthcare decision support.</a:t>
            </a:r>
          </a:p>
        </p:txBody>
      </p:sp>
      <p:sp>
        <p:nvSpPr>
          <p:cNvPr id="7" name="Oval 6"/>
          <p:cNvSpPr/>
          <p:nvPr/>
        </p:nvSpPr>
        <p:spPr>
          <a:xfrm>
            <a:off x="8321040" y="1554480"/>
            <a:ext cx="164592" cy="164592"/>
          </a:xfrm>
          <a:prstGeom prst="ellipse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0" y="1143000"/>
            <a:ext cx="164592" cy="164592"/>
          </a:xfrm>
          <a:prstGeom prst="ellipse">
            <a:avLst/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52760" y="1965960"/>
            <a:ext cx="164592" cy="164592"/>
          </a:xfrm>
          <a:prstGeom prst="ellipse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915400" y="2880360"/>
            <a:ext cx="164592" cy="164592"/>
          </a:xfrm>
          <a:prstGeom prst="ellipse">
            <a:avLst/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332720" y="3566160"/>
            <a:ext cx="164592" cy="164592"/>
          </a:xfrm>
          <a:prstGeom prst="ellipse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138160" y="4160520"/>
            <a:ext cx="164592" cy="164592"/>
          </a:xfrm>
          <a:prstGeom prst="ellipse">
            <a:avLst/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064240" y="4343400"/>
            <a:ext cx="164592" cy="164592"/>
          </a:xfrm>
          <a:prstGeom prst="ellipse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 flipV="1">
            <a:off x="8403336" y="1225296"/>
            <a:ext cx="1280160" cy="411480"/>
          </a:xfrm>
          <a:prstGeom prst="line">
            <a:avLst/>
          </a:prstGeom>
          <a:ln w="17780">
            <a:solidFill>
              <a:srgbClr val="2F6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83496" y="1225296"/>
            <a:ext cx="1051560" cy="822959"/>
          </a:xfrm>
          <a:prstGeom prst="line">
            <a:avLst/>
          </a:prstGeom>
          <a:ln w="17780">
            <a:solidFill>
              <a:srgbClr val="2F6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03336" y="1636776"/>
            <a:ext cx="594360" cy="1325880"/>
          </a:xfrm>
          <a:prstGeom prst="line">
            <a:avLst/>
          </a:prstGeom>
          <a:ln w="17780">
            <a:solidFill>
              <a:srgbClr val="2F6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97696" y="2962656"/>
            <a:ext cx="1417320" cy="685800"/>
          </a:xfrm>
          <a:prstGeom prst="line">
            <a:avLst/>
          </a:prstGeom>
          <a:ln w="17780">
            <a:solidFill>
              <a:srgbClr val="2F6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220456" y="3648456"/>
            <a:ext cx="2194560" cy="594360"/>
          </a:xfrm>
          <a:prstGeom prst="line">
            <a:avLst/>
          </a:prstGeom>
          <a:ln w="17780">
            <a:solidFill>
              <a:srgbClr val="2F6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0415016" y="2048255"/>
            <a:ext cx="320040" cy="1600201"/>
          </a:xfrm>
          <a:prstGeom prst="line">
            <a:avLst/>
          </a:prstGeom>
          <a:ln w="17780">
            <a:solidFill>
              <a:srgbClr val="2F6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415016" y="3648456"/>
            <a:ext cx="731520" cy="777240"/>
          </a:xfrm>
          <a:prstGeom prst="line">
            <a:avLst/>
          </a:prstGeom>
          <a:ln w="17780">
            <a:solidFill>
              <a:srgbClr val="2F6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220456" y="2962656"/>
            <a:ext cx="777240" cy="1280160"/>
          </a:xfrm>
          <a:prstGeom prst="line">
            <a:avLst/>
          </a:prstGeom>
          <a:ln w="17780">
            <a:solidFill>
              <a:srgbClr val="2F6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F7FAFC"/>
                </a:solidFill>
                <a:latin typeface="Aptos"/>
              </a:rPr>
              <a:t>The opportunity: anticipate readmission risk and support the right next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02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20440" cy="157276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4008" cy="1572768"/>
          </a:xfrm>
          <a:prstGeom prst="rect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700784"/>
            <a:ext cx="3136392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ptos"/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66543"/>
            <a:ext cx="3136392" cy="9509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Unplanned readmissions can affect patient outcomes, care continuity and hospital resources. Risk is shaped by multiple clinical and operational signals.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3520440" cy="157276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64008" cy="1572768"/>
          </a:xfrm>
          <a:prstGeom prst="rect">
            <a:avLst/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700784"/>
            <a:ext cx="3136392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ptos"/>
              </a:rPr>
              <a:t>THE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66543"/>
            <a:ext cx="3136392" cy="9509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LightGBM uses structured patient information plus discharge-summary text; FastAPI serves predictions to React and Streamlit interfaces.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520440" cy="157276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64008" cy="1572768"/>
          </a:xfrm>
          <a:prstGeom prst="rect">
            <a:avLst/>
          </a:prstGeom>
          <a:solidFill>
            <a:srgbClr val="F4BE57"/>
          </a:solidFill>
          <a:ln>
            <a:solidFill>
              <a:srgbClr val="F4B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700784"/>
            <a:ext cx="3136392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ptos"/>
              </a:rPr>
              <a:t>THE THINKER'S LENS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66543"/>
            <a:ext cx="3136392" cy="95097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A risk score matters only if it is valid, actionable, fair, calibrated and connected to a care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11880"/>
            <a:ext cx="429768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What this project demonstrates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05072"/>
            <a:ext cx="5577840" cy="1508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9B8C9"/>
                </a:solidFill>
                <a:latin typeface="Aptos"/>
              </a:defRPr>
            </a:pPr>
            <a:r>
              <a:t>•  End-to-end ML workflow: data → features → model → API → UI</a:t>
            </a:r>
          </a:p>
          <a:p>
            <a:pPr>
              <a:spcAft>
                <a:spcPts val="800"/>
              </a:spcAft>
              <a:defRPr sz="1300">
                <a:solidFill>
                  <a:srgbClr val="A9B8C9"/>
                </a:solidFill>
                <a:latin typeface="Aptos"/>
              </a:defRPr>
            </a:pPr>
            <a:r>
              <a:t>•  Combines structured features with NLP-derived text features</a:t>
            </a:r>
          </a:p>
          <a:p>
            <a:pPr>
              <a:spcAft>
                <a:spcPts val="800"/>
              </a:spcAft>
              <a:defRPr sz="1300">
                <a:solidFill>
                  <a:srgbClr val="A9B8C9"/>
                </a:solidFill>
                <a:latin typeface="Aptos"/>
              </a:defRPr>
            </a:pPr>
            <a:r>
              <a:t>•  A candid evaluation story: baseline results plus clear validation gaps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3675887"/>
            <a:ext cx="4526280" cy="2007158"/>
          </a:xfrm>
          <a:prstGeom prst="roundRect">
            <a:avLst>
              <a:gd name="adj" fmla="val 12000"/>
            </a:avLst>
          </a:prstGeom>
          <a:solidFill>
            <a:srgbClr val="1B394B"/>
          </a:solidFill>
          <a:ln>
            <a:solidFill>
              <a:srgbClr val="1B3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86600" y="3904487"/>
            <a:ext cx="18288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6C2B2"/>
                </a:solidFill>
                <a:latin typeface="Aptos"/>
              </a:rPr>
              <a:t>CORE MESSAGE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279392"/>
            <a:ext cx="388620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000" b="1" i="0">
                <a:solidFill>
                  <a:srgbClr val="F7FAFC"/>
                </a:solidFill>
                <a:latin typeface="Aptos"/>
              </a:rPr>
              <a:t>Predict risk to support care planning —
not to automate clinical judgment.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F7FAFC"/>
                </a:solidFill>
                <a:latin typeface="Aptos"/>
              </a:rPr>
              <a:t>Frame the care problem before choosing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03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554480"/>
            <a:ext cx="402336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26C2B2"/>
                </a:solidFill>
                <a:latin typeface="Aptos"/>
              </a:rPr>
              <a:t>Working 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38528"/>
            <a:ext cx="5074920" cy="137160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61772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How might we identify patients who may need additional support after discharge, using available patient history and discharge information?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554480"/>
            <a:ext cx="41148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26C2B2"/>
                </a:solidFill>
                <a:latin typeface="Aptos"/>
              </a:rPr>
              <a:t>Questions to investigate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938528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44768" y="1938528"/>
            <a:ext cx="64008" cy="1143000"/>
          </a:xfrm>
          <a:prstGeom prst="rect">
            <a:avLst/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45936" y="2084832"/>
            <a:ext cx="2039112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WHO?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450592"/>
            <a:ext cx="2039112" cy="5212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Which patient groups and care teams?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59952" y="1938528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759952" y="1938528"/>
            <a:ext cx="64008" cy="1143000"/>
          </a:xfrm>
          <a:prstGeom prst="rect">
            <a:avLst/>
          </a:prstGeom>
          <a:solidFill>
            <a:srgbClr val="F4BE57"/>
          </a:solidFill>
          <a:ln>
            <a:solidFill>
              <a:srgbClr val="F4B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2084832"/>
            <a:ext cx="2039112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WHEN?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450592"/>
            <a:ext cx="2039112" cy="5212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At admission, during stay or discharge?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273552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3273552"/>
            <a:ext cx="64008" cy="1143000"/>
          </a:xfrm>
          <a:prstGeom prst="rect">
            <a:avLst/>
          </a:prstGeom>
          <a:solidFill>
            <a:srgbClr val="FF8E79"/>
          </a:solidFill>
          <a:ln>
            <a:solidFill>
              <a:srgbClr val="FF8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5936" y="3419856"/>
            <a:ext cx="2039112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WHY?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785616"/>
            <a:ext cx="2039112" cy="5212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What are the modifiable risk factors?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59952" y="3273552"/>
            <a:ext cx="2423160" cy="114300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59952" y="3273552"/>
            <a:ext cx="64008" cy="1143000"/>
          </a:xfrm>
          <a:prstGeom prst="rect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0" y="3419856"/>
            <a:ext cx="2039112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ACTION?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785616"/>
            <a:ext cx="2039112" cy="5212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Which intervention can follow a flag?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56048"/>
            <a:ext cx="10652760" cy="7498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A9B8C9"/>
                </a:solidFill>
                <a:latin typeface="Aptos"/>
              </a:rPr>
              <a:t>Root-cause hypotheses to test: fragmented information, inconsistent discharge documentation, unmet follow-up needs, medication complexity, or previous admission patterns. These are hypotheses—not proven causes in this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F7FAFC"/>
                </a:solidFill>
                <a:latin typeface="Aptos"/>
              </a:rPr>
              <a:t>Solution workflow: structured data + discharge-summary text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25296"/>
            <a:ext cx="11027664" cy="0"/>
          </a:xfrm>
          <a:prstGeom prst="line">
            <a:avLst/>
          </a:prstGeom>
          <a:ln w="12700">
            <a:solidFill>
              <a:srgbClr val="2F4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04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2423160" cy="1993392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029968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26C2B2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23160"/>
            <a:ext cx="205740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52928"/>
            <a:ext cx="2057400" cy="7498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A9B8C9"/>
                </a:solidFill>
                <a:latin typeface="Aptos"/>
              </a:rPr>
              <a:t>Age • diagnosis
medications • labs
prior admissions • stay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834640"/>
            <a:ext cx="320040" cy="0"/>
          </a:xfrm>
          <a:prstGeom prst="line">
            <a:avLst/>
          </a:prstGeom>
          <a:ln w="2540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38728" y="1847088"/>
            <a:ext cx="2423160" cy="1993392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8" y="2029968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67D5E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423160"/>
            <a:ext cx="205740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852928"/>
            <a:ext cx="2057400" cy="7498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A9B8C9"/>
                </a:solidFill>
                <a:latin typeface="Aptos"/>
              </a:rPr>
              <a:t>Risk-derived features
categorical encoding
imputation + scaling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2834640"/>
            <a:ext cx="320040" cy="0"/>
          </a:xfrm>
          <a:prstGeom prst="line">
            <a:avLst/>
          </a:prstGeom>
          <a:ln w="2540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19088" y="1847088"/>
            <a:ext cx="2423160" cy="1993392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2029968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4BE57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423160"/>
            <a:ext cx="205740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852928"/>
            <a:ext cx="2057400" cy="7498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A9B8C9"/>
                </a:solidFill>
                <a:latin typeface="Aptos"/>
              </a:rPr>
              <a:t>TF-IDF on discharge
summary text + LightGBM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69680" y="2834640"/>
            <a:ext cx="320039" cy="0"/>
          </a:xfrm>
          <a:prstGeom prst="line">
            <a:avLst/>
          </a:prstGeom>
          <a:ln w="2540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99448" y="1847088"/>
            <a:ext cx="2423160" cy="1993392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82328" y="2029968"/>
            <a:ext cx="5029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6CCF9A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2423160"/>
            <a:ext cx="205740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2852928"/>
            <a:ext cx="2057400" cy="7498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A9B8C9"/>
                </a:solidFill>
                <a:latin typeface="Aptos"/>
              </a:rPr>
              <a:t>FastAPI prediction
probability + risk band
React / Streamlit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315968"/>
            <a:ext cx="1042416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67D5E8"/>
                </a:solidFill>
                <a:latin typeface="Aptos"/>
              </a:rPr>
              <a:t>Current output includes a predicted class, probability and LOW / MEDIUM / HIGH risk band.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846320"/>
            <a:ext cx="10789920" cy="658368"/>
          </a:xfrm>
          <a:prstGeom prst="roundRect">
            <a:avLst>
              <a:gd name="adj" fmla="val 12000"/>
            </a:avLst>
          </a:prstGeom>
          <a:solidFill>
            <a:srgbClr val="432A31"/>
          </a:solidFill>
          <a:ln>
            <a:solidFill>
              <a:srgbClr val="4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038344"/>
            <a:ext cx="103327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ptos"/>
              </a:rPr>
              <a:t>Risk thresholds and probabilities need calibration and clinical workflow validation before being used to prioritize real patients.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F7FAFC"/>
                </a:solidFill>
                <a:latin typeface="Aptos"/>
              </a:rPr>
              <a:t>Technical architecture: modular inference and a full-stack experience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25296"/>
            <a:ext cx="11027664" cy="0"/>
          </a:xfrm>
          <a:prstGeom prst="line">
            <a:avLst/>
          </a:prstGeom>
          <a:ln w="12700">
            <a:solidFill>
              <a:srgbClr val="2F4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05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6720840" cy="539496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17904"/>
            <a:ext cx="25603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7FAFC"/>
                </a:solidFill>
                <a:latin typeface="Aptos"/>
              </a:rPr>
              <a:t>React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508760"/>
            <a:ext cx="3749039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Patient form • typed request / response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6200" y="1965960"/>
            <a:ext cx="0" cy="146304"/>
          </a:xfrm>
          <a:prstGeom prst="line">
            <a:avLst/>
          </a:prstGeom>
          <a:ln w="1524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13232" y="2130552"/>
            <a:ext cx="6720840" cy="539496"/>
          </a:xfrm>
          <a:prstGeom prst="roundRect">
            <a:avLst>
              <a:gd name="adj" fmla="val 12000"/>
            </a:avLst>
          </a:prstGeom>
          <a:solidFill>
            <a:srgbClr val="192F46"/>
          </a:solidFill>
          <a:ln>
            <a:solidFill>
              <a:srgbClr val="192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231136"/>
            <a:ext cx="25603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7FAFC"/>
                </a:solidFill>
                <a:latin typeface="Aptos"/>
              </a:rP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221992"/>
            <a:ext cx="3749039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POST /predict/ • Pydantic request schema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86200" y="2679192"/>
            <a:ext cx="0" cy="146304"/>
          </a:xfrm>
          <a:prstGeom prst="line">
            <a:avLst/>
          </a:prstGeom>
          <a:ln w="1524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3232" y="2843784"/>
            <a:ext cx="6720840" cy="539496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944368"/>
            <a:ext cx="25603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7FAFC"/>
                </a:solidFill>
                <a:latin typeface="Aptos"/>
              </a:rPr>
              <a:t>Router → Service → Predictor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935224"/>
            <a:ext cx="3749039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Prediction endpoint • service boundary • model inference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86200" y="3392424"/>
            <a:ext cx="0" cy="146304"/>
          </a:xfrm>
          <a:prstGeom prst="line">
            <a:avLst/>
          </a:prstGeom>
          <a:ln w="1524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3232" y="3557015"/>
            <a:ext cx="6720840" cy="539496"/>
          </a:xfrm>
          <a:prstGeom prst="roundRect">
            <a:avLst>
              <a:gd name="adj" fmla="val 12000"/>
            </a:avLst>
          </a:prstGeom>
          <a:solidFill>
            <a:srgbClr val="192F46"/>
          </a:solidFill>
          <a:ln>
            <a:solidFill>
              <a:srgbClr val="192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657599"/>
            <a:ext cx="25603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7FAFC"/>
                </a:solidFill>
                <a:latin typeface="Aptos"/>
              </a:rPr>
              <a:t>Feature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648456"/>
            <a:ext cx="3749039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Engineered features • structured preprocessing • TF-IDF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86200" y="4105655"/>
            <a:ext cx="0" cy="146304"/>
          </a:xfrm>
          <a:prstGeom prst="line">
            <a:avLst/>
          </a:prstGeom>
          <a:ln w="1524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3232" y="4270248"/>
            <a:ext cx="6720840" cy="539496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370832"/>
            <a:ext cx="25603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7FAFC"/>
                </a:solidFill>
                <a:latin typeface="Aptos"/>
              </a:rPr>
              <a:t>LightGBM + artifacts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361688"/>
            <a:ext cx="3749039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lightgbm_model.pkl • structured_pipeline.pkl • tfidf.pkl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4818888"/>
            <a:ext cx="0" cy="146304"/>
          </a:xfrm>
          <a:prstGeom prst="line">
            <a:avLst/>
          </a:prstGeom>
          <a:ln w="1524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3232" y="4983480"/>
            <a:ext cx="6720840" cy="539496"/>
          </a:xfrm>
          <a:prstGeom prst="roundRect">
            <a:avLst>
              <a:gd name="adj" fmla="val 12000"/>
            </a:avLst>
          </a:prstGeom>
          <a:solidFill>
            <a:srgbClr val="192F46"/>
          </a:solidFill>
          <a:ln>
            <a:solidFill>
              <a:srgbClr val="192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084064"/>
            <a:ext cx="25603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7FAFC"/>
                </a:solidFill>
                <a:latin typeface="Aptos"/>
              </a:rPr>
              <a:t>MLflow + 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5074920"/>
            <a:ext cx="3749039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Experiment tracking • saved metrics / report artifacts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1554480"/>
            <a:ext cx="3474720" cy="114300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818120" y="1554480"/>
            <a:ext cx="64008" cy="1143000"/>
          </a:xfrm>
          <a:prstGeom prst="rect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19288" y="1700784"/>
            <a:ext cx="3090672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GOOD FOUNDATION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9288" y="2066543"/>
            <a:ext cx="3090672" cy="5212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Clear API / service / predictor separation and reusable preprocessing artifacts.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2880360"/>
            <a:ext cx="3474720" cy="114300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818120" y="2880360"/>
            <a:ext cx="64008" cy="1143000"/>
          </a:xfrm>
          <a:prstGeom prst="rect">
            <a:avLst/>
          </a:prstGeom>
          <a:solidFill>
            <a:srgbClr val="F4BE57"/>
          </a:solidFill>
          <a:ln>
            <a:solidFill>
              <a:srgbClr val="F4B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19288" y="3026664"/>
            <a:ext cx="3090672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CONFIGURATION RISK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9288" y="3392424"/>
            <a:ext cx="3090672" cy="5212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Relative paths and artifact lifecycle need to be made reproducible.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4206240"/>
            <a:ext cx="3474720" cy="114300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818120" y="4206240"/>
            <a:ext cx="64008" cy="1143000"/>
          </a:xfrm>
          <a:prstGeom prst="rect">
            <a:avLst/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19288" y="4352544"/>
            <a:ext cx="3090672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NEXT HARDENING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9288" y="4718304"/>
            <a:ext cx="3090672" cy="5212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Tests, access control, monitoring, versioning and deployment controls.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F7FAFC"/>
                </a:solidFill>
                <a:latin typeface="Aptos"/>
              </a:rPr>
              <a:t>Model choices should be justified by comparative evidence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25296"/>
            <a:ext cx="11027664" cy="0"/>
          </a:xfrm>
          <a:prstGeom prst="line">
            <a:avLst/>
          </a:prstGeom>
          <a:ln w="12700">
            <a:solidFill>
              <a:srgbClr val="2F4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06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3456432" cy="141732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64008" cy="1417320"/>
          </a:xfrm>
          <a:prstGeom prst="rect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719072"/>
            <a:ext cx="3072384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ptos"/>
              </a:rPr>
              <a:t>STRUCTURED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084832"/>
            <a:ext cx="3072384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Age, diagnosis, medications, lab result, previous admissions and length of stay.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572768"/>
            <a:ext cx="3456432" cy="141732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572768"/>
            <a:ext cx="64008" cy="1417320"/>
          </a:xfrm>
          <a:prstGeom prst="rect">
            <a:avLst/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719072"/>
            <a:ext cx="3072384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ptos"/>
              </a:rPr>
              <a:t>ENGINEERED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84832"/>
            <a:ext cx="3072384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Admission-risk score, medication complexity, chronic-condition flag, lab-risk flag and elderly flag.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572768"/>
            <a:ext cx="3456432" cy="141732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1572768"/>
            <a:ext cx="64008" cy="1417320"/>
          </a:xfrm>
          <a:prstGeom prst="rect">
            <a:avLst/>
          </a:prstGeom>
          <a:solidFill>
            <a:srgbClr val="F4BE57"/>
          </a:solidFill>
          <a:ln>
            <a:solidFill>
              <a:srgbClr val="F4B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1719072"/>
            <a:ext cx="3072384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7FAFC"/>
                </a:solidFill>
                <a:latin typeface="Aptos"/>
              </a:rPr>
              <a:t>TEXT +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084832"/>
            <a:ext cx="3072384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A9B8C9"/>
                </a:solidFill>
                <a:latin typeface="Aptos"/>
              </a:rPr>
              <a:t>Cleaned discharge summary → TF-IDF (up to 300 features) → LightGBM classifier.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401568"/>
            <a:ext cx="384048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Implemented in the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803904"/>
            <a:ext cx="4983480" cy="1417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9B8C9"/>
                </a:solidFill>
                <a:latin typeface="Aptos"/>
              </a:defRPr>
            </a:pPr>
            <a:r>
              <a:t>•  Feature engineering and structured preprocessing</a:t>
            </a:r>
          </a:p>
          <a:p>
            <a:pPr>
              <a:spcAft>
                <a:spcPts val="800"/>
              </a:spcAft>
              <a:defRPr sz="1200">
                <a:solidFill>
                  <a:srgbClr val="A9B8C9"/>
                </a:solidFill>
                <a:latin typeface="Aptos"/>
              </a:defRPr>
            </a:pPr>
            <a:r>
              <a:t>•  TF-IDF vectorization and LightGBM training</a:t>
            </a:r>
          </a:p>
          <a:p>
            <a:pPr>
              <a:spcAft>
                <a:spcPts val="800"/>
              </a:spcAft>
              <a:defRPr sz="1200">
                <a:solidFill>
                  <a:srgbClr val="A9B8C9"/>
                </a:solidFill>
                <a:latin typeface="Aptos"/>
              </a:defRPr>
            </a:pPr>
            <a:r>
              <a:t>•  Saved model artifacts and MLflow metric/model logging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3401568"/>
            <a:ext cx="438912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Key questions before trusting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803904"/>
            <a:ext cx="5074920" cy="15727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9B8C9"/>
                </a:solidFill>
                <a:latin typeface="Aptos"/>
              </a:defRPr>
            </a:pPr>
            <a:r>
              <a:t>•  Does the model beat a simple baseline?</a:t>
            </a:r>
          </a:p>
          <a:p>
            <a:pPr>
              <a:spcAft>
                <a:spcPts val="800"/>
              </a:spcAft>
              <a:defRPr sz="1200">
                <a:solidFill>
                  <a:srgbClr val="A9B8C9"/>
                </a:solidFill>
                <a:latin typeface="Aptos"/>
              </a:defRPr>
            </a:pPr>
            <a:r>
              <a:t>•  Were transformations fitted only on training data?</a:t>
            </a:r>
          </a:p>
          <a:p>
            <a:pPr>
              <a:spcAft>
                <a:spcPts val="800"/>
              </a:spcAft>
              <a:defRPr sz="1200">
                <a:solidFill>
                  <a:srgbClr val="A9B8C9"/>
                </a:solidFill>
                <a:latin typeface="Aptos"/>
              </a:defRPr>
            </a:pPr>
            <a:r>
              <a:t>•  Do text features generalize or encode leakage?</a:t>
            </a:r>
          </a:p>
          <a:p>
            <a:pPr>
              <a:spcAft>
                <a:spcPts val="800"/>
              </a:spcAft>
              <a:defRPr sz="1200">
                <a:solidFill>
                  <a:srgbClr val="A9B8C9"/>
                </a:solidFill>
                <a:latin typeface="Aptos"/>
              </a:defRPr>
            </a:pPr>
            <a:r>
              <a:t>•  Are risk bands clinically meaningful and calibrated?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614416"/>
            <a:ext cx="10698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26C2B2"/>
                </a:solidFill>
                <a:latin typeface="Aptos"/>
              </a:rPr>
              <a:t>Thinker’s test: choose the simplest model that performs reliably and changes a real care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F7FAFC"/>
                </a:solidFill>
                <a:latin typeface="Aptos"/>
              </a:rPr>
              <a:t>Data and evaluation: be transparent about what the evidence says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25296"/>
            <a:ext cx="11027664" cy="0"/>
          </a:xfrm>
          <a:prstGeom prst="line">
            <a:avLst/>
          </a:prstGeom>
          <a:ln w="12700">
            <a:solidFill>
              <a:srgbClr val="2F4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72768"/>
            <a:ext cx="2423160" cy="102412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123444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26C2B2"/>
                </a:solidFill>
                <a:latin typeface="Aptos"/>
              </a:rPr>
              <a:t>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85416"/>
            <a:ext cx="2057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training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572768"/>
            <a:ext cx="2423160" cy="102412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1737360"/>
            <a:ext cx="123444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67D5E8"/>
                </a:solidFill>
                <a:latin typeface="Aptos"/>
              </a:rPr>
              <a:t>130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185416"/>
            <a:ext cx="2057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saved test-report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572768"/>
            <a:ext cx="2423160" cy="102412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737360"/>
            <a:ext cx="123444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F4BE57"/>
                </a:solidFill>
                <a:latin typeface="Aptos"/>
              </a:rPr>
              <a:t>72%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185416"/>
            <a:ext cx="2057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class 1 in training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2832" y="1572768"/>
            <a:ext cx="2423160" cy="102412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25711" y="1737360"/>
            <a:ext cx="123444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FF8E79"/>
                </a:solidFill>
                <a:latin typeface="Aptos"/>
              </a:rPr>
              <a:t>64%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1" y="2185416"/>
            <a:ext cx="2057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saved report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907792"/>
            <a:ext cx="51206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Saved classification report (support = 130)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337560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6C2B2"/>
                </a:solidFill>
                <a:latin typeface="Aptos"/>
              </a:rPr>
              <a:t>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337560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6C2B2"/>
                </a:solidFill>
                <a:latin typeface="Aptos"/>
              </a:rPr>
              <a:t>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337560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6C2B2"/>
                </a:solidFill>
                <a:latin typeface="Aptos"/>
              </a:rPr>
              <a:t>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37560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6C2B2"/>
                </a:solidFill>
                <a:latin typeface="Aptos"/>
              </a:rPr>
              <a:t>F1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3657600"/>
            <a:ext cx="6995160" cy="384048"/>
          </a:xfrm>
          <a:prstGeom prst="rect">
            <a:avLst/>
          </a:prstGeom>
          <a:solidFill>
            <a:srgbClr val="162B41"/>
          </a:solidFill>
          <a:ln>
            <a:solidFill>
              <a:srgbClr val="16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730752"/>
            <a:ext cx="1828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F7FAFC"/>
                </a:solidFill>
                <a:latin typeface="Aptos"/>
              </a:rPr>
              <a:t>0 • No readmission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730752"/>
            <a:ext cx="1828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F7FAFC"/>
                </a:solidFill>
                <a:latin typeface="Aptos"/>
              </a:rPr>
              <a:t>0.400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730752"/>
            <a:ext cx="1828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F7FAFC"/>
                </a:solidFill>
                <a:latin typeface="Aptos"/>
              </a:rPr>
              <a:t>0.238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730752"/>
            <a:ext cx="1828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F7FAFC"/>
                </a:solidFill>
                <a:latin typeface="Aptos"/>
              </a:rPr>
              <a:t>0.299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133087"/>
            <a:ext cx="6995160" cy="384048"/>
          </a:xfrm>
          <a:prstGeom prst="rect">
            <a:avLst/>
          </a:prstGeom>
          <a:solidFill>
            <a:srgbClr val="112337"/>
          </a:solidFill>
          <a:ln>
            <a:solidFill>
              <a:srgbClr val="11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" y="4206240"/>
            <a:ext cx="1828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F7FAFC"/>
                </a:solidFill>
                <a:latin typeface="Aptos"/>
              </a:rPr>
              <a:t>1 • Readmission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206240"/>
            <a:ext cx="1828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F7FAFC"/>
                </a:solidFill>
                <a:latin typeface="Aptos"/>
              </a:rPr>
              <a:t>0.695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206240"/>
            <a:ext cx="1828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F7FAFC"/>
                </a:solidFill>
                <a:latin typeface="Aptos"/>
              </a:rPr>
              <a:t>0.830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206240"/>
            <a:ext cx="1828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F7FAFC"/>
                </a:solidFill>
                <a:latin typeface="Aptos"/>
              </a:rPr>
              <a:t>0.756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4608576"/>
            <a:ext cx="6995160" cy="384048"/>
          </a:xfrm>
          <a:prstGeom prst="rect">
            <a:avLst/>
          </a:prstGeom>
          <a:solidFill>
            <a:srgbClr val="162B41"/>
          </a:solidFill>
          <a:ln>
            <a:solidFill>
              <a:srgbClr val="16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" y="4681728"/>
            <a:ext cx="1828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F4BE57"/>
                </a:solidFill>
                <a:latin typeface="Aptos"/>
              </a:rPr>
              <a:t>Macro average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681728"/>
            <a:ext cx="1828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F4BE57"/>
                </a:solidFill>
                <a:latin typeface="Aptos"/>
              </a:rPr>
              <a:t>0.548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681728"/>
            <a:ext cx="1828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F4BE57"/>
                </a:solidFill>
                <a:latin typeface="Aptos"/>
              </a:rPr>
              <a:t>0.534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681728"/>
            <a:ext cx="1828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F4BE57"/>
                </a:solidFill>
                <a:latin typeface="Aptos"/>
              </a:rPr>
              <a:t>0.527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2971800"/>
            <a:ext cx="3246120" cy="1755648"/>
          </a:xfrm>
          <a:prstGeom prst="roundRect">
            <a:avLst>
              <a:gd name="adj" fmla="val 12000"/>
            </a:avLst>
          </a:prstGeom>
          <a:solidFill>
            <a:srgbClr val="432A31"/>
          </a:solidFill>
          <a:ln>
            <a:solidFill>
              <a:srgbClr val="4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39327" y="3218688"/>
            <a:ext cx="2286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FF8E79"/>
                </a:solidFill>
                <a:latin typeface="Aptos"/>
              </a:rPr>
              <a:t>CRITICAL SIGNAL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7" y="3566160"/>
            <a:ext cx="2670048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7FAFC"/>
                </a:solidFill>
                <a:latin typeface="Aptos"/>
              </a:rPr>
              <a:t>Recall for class 0 is only 0.238 in the saved report. The model misses many non-readmission cases; this also signals class-specific behavior that needs investigation.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" y="5349240"/>
            <a:ext cx="1056132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1">
                <a:solidFill>
                  <a:srgbClr val="A9B8C9"/>
                </a:solidFill>
                <a:latin typeface="Aptos"/>
              </a:rPr>
              <a:t>Report metrics are copied from the repository artifact; the run, split, data provenance and reproducibility should be verified before presenting them as validated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F7FAFC"/>
                </a:solidFill>
                <a:latin typeface="Aptos"/>
              </a:rPr>
              <a:t>My differentiator: think in workflows, evidence and trade-offs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25296"/>
            <a:ext cx="11027664" cy="0"/>
          </a:xfrm>
          <a:prstGeom prst="line">
            <a:avLst/>
          </a:prstGeom>
          <a:ln w="12700">
            <a:solidFill>
              <a:srgbClr val="2F4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08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08760"/>
            <a:ext cx="5138928" cy="105156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508760"/>
            <a:ext cx="64008" cy="1051560"/>
          </a:xfrm>
          <a:prstGeom prst="rect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655063"/>
            <a:ext cx="475488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1  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020824"/>
            <a:ext cx="4754880" cy="42976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Who needs the prediction, at what point, and what action can follow?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08760"/>
            <a:ext cx="5138928" cy="105156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508760"/>
            <a:ext cx="64008" cy="1051560"/>
          </a:xfrm>
          <a:prstGeom prst="rect">
            <a:avLst/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655063"/>
            <a:ext cx="475488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2 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020824"/>
            <a:ext cx="4754880" cy="42976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Understand causes, data provenance, label quality and workflow constraints.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852928"/>
            <a:ext cx="5138928" cy="105156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9808" y="2852928"/>
            <a:ext cx="64008" cy="1051560"/>
          </a:xfrm>
          <a:prstGeom prst="rect">
            <a:avLst/>
          </a:prstGeom>
          <a:solidFill>
            <a:srgbClr val="F4BE57"/>
          </a:solidFill>
          <a:ln>
            <a:solidFill>
              <a:srgbClr val="F4B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2999232"/>
            <a:ext cx="475488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3  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364992"/>
            <a:ext cx="4754880" cy="42976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Compare simple baselines, rules, ML and process changes.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852928"/>
            <a:ext cx="5138928" cy="105156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2852928"/>
            <a:ext cx="64008" cy="1051560"/>
          </a:xfrm>
          <a:prstGeom prst="rect">
            <a:avLst/>
          </a:prstGeom>
          <a:solidFill>
            <a:srgbClr val="6CCF9A"/>
          </a:solidFill>
          <a:ln>
            <a:solidFill>
              <a:srgbClr val="6CC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2999232"/>
            <a:ext cx="475488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4  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364992"/>
            <a:ext cx="4754880" cy="42976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Predefine metrics; validate class-wise performance, calibration and generalization.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197096"/>
            <a:ext cx="5138928" cy="105156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9808" y="4197096"/>
            <a:ext cx="64008" cy="1051560"/>
          </a:xfrm>
          <a:prstGeom prst="rect">
            <a:avLst/>
          </a:prstGeom>
          <a:solidFill>
            <a:srgbClr val="FF8E79"/>
          </a:solidFill>
          <a:ln>
            <a:solidFill>
              <a:srgbClr val="FF8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0976" y="4343400"/>
            <a:ext cx="475488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5  GOVERN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4709160"/>
            <a:ext cx="4754880" cy="42976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Address privacy, fairness, human oversight, accountability and monitoring.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197096"/>
            <a:ext cx="5138928" cy="1051560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4197096"/>
            <a:ext cx="64008" cy="1051560"/>
          </a:xfrm>
          <a:prstGeom prst="rect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0528" y="4343400"/>
            <a:ext cx="475488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6 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709160"/>
            <a:ext cx="4754880" cy="42976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Scale only when measured benefit and operational readiness justify 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715000"/>
            <a:ext cx="106527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67D5E8"/>
                </a:solidFill>
                <a:latin typeface="Aptos"/>
              </a:rPr>
              <a:t>I do not treat “use AI” as the problem statement. I identify the decision that needs to improve, then test whether AI is the right intervention.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F7FAFC"/>
                </a:solidFill>
                <a:latin typeface="Aptos"/>
              </a:rPr>
              <a:t>Measure predictive quality and operational usefulness separately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25296"/>
            <a:ext cx="11027664" cy="0"/>
          </a:xfrm>
          <a:prstGeom prst="line">
            <a:avLst/>
          </a:prstGeom>
          <a:ln w="12700">
            <a:solidFill>
              <a:srgbClr val="2F4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536192"/>
            <a:ext cx="21031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6C2B2"/>
                </a:solidFill>
                <a:latin typeface="Aptos"/>
              </a:rPr>
              <a:t>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536192"/>
            <a:ext cx="21031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6C2B2"/>
                </a:solidFill>
                <a:latin typeface="Aptos"/>
              </a:rPr>
              <a:t>METRIC /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36192"/>
            <a:ext cx="21031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6C2B2"/>
                </a:solidFill>
                <a:latin typeface="Aptos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536192"/>
            <a:ext cx="21031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26C2B2"/>
                </a:solidFill>
                <a:latin typeface="Aptos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10744200" cy="493776"/>
          </a:xfrm>
          <a:prstGeom prst="rect">
            <a:avLst/>
          </a:prstGeom>
          <a:solidFill>
            <a:srgbClr val="162B41"/>
          </a:solidFill>
          <a:ln>
            <a:solidFill>
              <a:srgbClr val="16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993391"/>
            <a:ext cx="192024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F7FAFC"/>
                </a:solidFill>
                <a:latin typeface="Aptos"/>
              </a:rPr>
              <a:t>Discrimination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984248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Recall, precision, F1 by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246888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Understand missed / false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984248"/>
            <a:ext cx="2103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 i="0">
                <a:solidFill>
                  <a:srgbClr val="F4BE57"/>
                </a:solidFill>
                <a:latin typeface="Aptos"/>
              </a:rPr>
              <a:t>Baseline exists; verify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478024"/>
            <a:ext cx="10744200" cy="493776"/>
          </a:xfrm>
          <a:prstGeom prst="rect">
            <a:avLst/>
          </a:prstGeom>
          <a:solidFill>
            <a:srgbClr val="112337"/>
          </a:solidFill>
          <a:ln>
            <a:solidFill>
              <a:srgbClr val="11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596896"/>
            <a:ext cx="192024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F7FAFC"/>
                </a:solidFill>
                <a:latin typeface="Aptos"/>
              </a:rPr>
              <a:t>Overall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58775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Macro-F1, balanced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569464"/>
            <a:ext cx="246888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Reduce imbalance masking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587752"/>
            <a:ext cx="2103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 i="0">
                <a:solidFill>
                  <a:srgbClr val="F4BE57"/>
                </a:solidFill>
                <a:latin typeface="Aptos"/>
              </a:rPr>
              <a:t>Add / confirm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081528"/>
            <a:ext cx="10744200" cy="493776"/>
          </a:xfrm>
          <a:prstGeom prst="rect">
            <a:avLst/>
          </a:prstGeom>
          <a:solidFill>
            <a:srgbClr val="162B41"/>
          </a:solidFill>
          <a:ln>
            <a:solidFill>
              <a:srgbClr val="16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200400"/>
            <a:ext cx="192024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F7FAFC"/>
                </a:solidFill>
                <a:latin typeface="Aptos"/>
              </a:rPr>
              <a:t>Probability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191256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Calibration curve, Brier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72968"/>
            <a:ext cx="246888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Test score meaning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191256"/>
            <a:ext cx="2103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 i="0">
                <a:solidFill>
                  <a:srgbClr val="F4BE57"/>
                </a:solidFill>
                <a:latin typeface="Aptos"/>
              </a:rPr>
              <a:t>Not established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685031"/>
            <a:ext cx="10744200" cy="493776"/>
          </a:xfrm>
          <a:prstGeom prst="rect">
            <a:avLst/>
          </a:prstGeom>
          <a:solidFill>
            <a:srgbClr val="112337"/>
          </a:solidFill>
          <a:ln>
            <a:solidFill>
              <a:srgbClr val="11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3803903"/>
            <a:ext cx="192024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F7FAFC"/>
                </a:solidFill>
                <a:latin typeface="Aptos"/>
              </a:rPr>
              <a:t>Generalization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794759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Stratified CV + external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776471"/>
            <a:ext cx="246888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Test beyond one split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794759"/>
            <a:ext cx="2103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 i="0">
                <a:solidFill>
                  <a:srgbClr val="F4BE57"/>
                </a:solidFill>
                <a:latin typeface="Aptos"/>
              </a:rPr>
              <a:t>Not established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4288536"/>
            <a:ext cx="10744200" cy="493776"/>
          </a:xfrm>
          <a:prstGeom prst="rect">
            <a:avLst/>
          </a:prstGeom>
          <a:solidFill>
            <a:srgbClr val="162B41"/>
          </a:solidFill>
          <a:ln>
            <a:solidFill>
              <a:srgbClr val="16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4407407"/>
            <a:ext cx="192024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F7FAFC"/>
                </a:solidFill>
                <a:latin typeface="Aptos"/>
              </a:rPr>
              <a:t>System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398264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Latency, failures, input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379975"/>
            <a:ext cx="246888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Safe operational behavior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398264"/>
            <a:ext cx="2103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 i="0">
                <a:solidFill>
                  <a:srgbClr val="F4BE57"/>
                </a:solidFill>
                <a:latin typeface="Aptos"/>
              </a:rPr>
              <a:t>To baseline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4892040"/>
            <a:ext cx="10744200" cy="493776"/>
          </a:xfrm>
          <a:prstGeom prst="rect">
            <a:avLst/>
          </a:prstGeom>
          <a:solidFill>
            <a:srgbClr val="112337"/>
          </a:solidFill>
          <a:ln>
            <a:solidFill>
              <a:srgbClr val="11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010912"/>
            <a:ext cx="192024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F7FAFC"/>
                </a:solidFill>
                <a:latin typeface="Aptos"/>
              </a:rPr>
              <a:t>Workflow 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001768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Follow-up action, review time, uptake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983479"/>
            <a:ext cx="246888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A9B8C9"/>
                </a:solidFill>
                <a:latin typeface="Aptos"/>
              </a:rPr>
              <a:t>Test real-world usefulness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5001768"/>
            <a:ext cx="210312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 i="0">
                <a:solidFill>
                  <a:srgbClr val="F4BE57"/>
                </a:solidFill>
                <a:latin typeface="Aptos"/>
              </a:rPr>
              <a:t>Pilot metrics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" y="5760720"/>
            <a:ext cx="106070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67D5E8"/>
                </a:solidFill>
                <a:latin typeface="Aptos"/>
              </a:rPr>
              <a:t>Agree thresholds with clinical and operational stakeholders before evaluation; never retrofit the success criteria after seeing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F7FAFC"/>
                </a:solidFill>
                <a:latin typeface="Aptos"/>
              </a:rPr>
              <a:t>Responsible AI: a readmission score must lead to safe, actionable care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25296"/>
            <a:ext cx="11027664" cy="0"/>
          </a:xfrm>
          <a:prstGeom prst="line">
            <a:avLst/>
          </a:prstGeom>
          <a:ln w="12700">
            <a:solidFill>
              <a:srgbClr val="2F4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72768"/>
            <a:ext cx="3401568" cy="129844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572768"/>
            <a:ext cx="64008" cy="1298448"/>
          </a:xfrm>
          <a:prstGeom prst="rect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19072"/>
            <a:ext cx="301752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INTENDED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84832"/>
            <a:ext cx="3017520" cy="67665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Define population, prediction horizon, setting and responsible user.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572768"/>
            <a:ext cx="3401568" cy="129844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572768"/>
            <a:ext cx="64008" cy="1298448"/>
          </a:xfrm>
          <a:prstGeom prst="rect">
            <a:avLst/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1719072"/>
            <a:ext cx="301752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HUMAN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084832"/>
            <a:ext cx="3017520" cy="67665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Risk flags prompt assessment; they do not dictate discharge or treatment.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572768"/>
            <a:ext cx="3401568" cy="129844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3" y="1572768"/>
            <a:ext cx="64008" cy="1298448"/>
          </a:xfrm>
          <a:prstGeom prst="rect">
            <a:avLst/>
          </a:prstGeom>
          <a:solidFill>
            <a:srgbClr val="F4BE57"/>
          </a:solidFill>
          <a:ln>
            <a:solidFill>
              <a:srgbClr val="F4B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1719072"/>
            <a:ext cx="301752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PRIVACY &amp;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084832"/>
            <a:ext cx="3017520" cy="67665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Minimize patient data, control access and protect logs.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127248"/>
            <a:ext cx="3401568" cy="129844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" y="3127248"/>
            <a:ext cx="64008" cy="1298448"/>
          </a:xfrm>
          <a:prstGeom prst="rect">
            <a:avLst/>
          </a:prstGeom>
          <a:solidFill>
            <a:srgbClr val="FF8E79"/>
          </a:solidFill>
          <a:ln>
            <a:solidFill>
              <a:srgbClr val="FF8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273552"/>
            <a:ext cx="301752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FAIRNESS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39312"/>
            <a:ext cx="3017520" cy="67665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Assess performance across relevant patient subgroups.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3127248"/>
            <a:ext cx="3401568" cy="129844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07408" y="3127248"/>
            <a:ext cx="64008" cy="1298448"/>
          </a:xfrm>
          <a:prstGeom prst="rect">
            <a:avLst/>
          </a:prstGeom>
          <a:solidFill>
            <a:srgbClr val="6CCF9A"/>
          </a:solidFill>
          <a:ln>
            <a:solidFill>
              <a:srgbClr val="6CC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08576" y="3273552"/>
            <a:ext cx="301752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CALIBRATION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3639312"/>
            <a:ext cx="3017520" cy="67665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Define thresholds using clinical context and capacity for follow-up.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3127248"/>
            <a:ext cx="3401568" cy="1298448"/>
          </a:xfrm>
          <a:prstGeom prst="roundRect">
            <a:avLst>
              <a:gd name="adj" fmla="val 12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01583" y="3127248"/>
            <a:ext cx="64008" cy="1298448"/>
          </a:xfrm>
          <a:prstGeom prst="rect">
            <a:avLst/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02752" y="3273552"/>
            <a:ext cx="301752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7FAFC"/>
                </a:solidFill>
                <a:latin typeface="Aptos"/>
              </a:rPr>
              <a:t>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3639312"/>
            <a:ext cx="3017520" cy="67665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Track drift, missed cases, alerts, workflow effects and incidents.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4956048"/>
            <a:ext cx="10652760" cy="585216"/>
          </a:xfrm>
          <a:prstGeom prst="roundRect">
            <a:avLst>
              <a:gd name="adj" fmla="val 12000"/>
            </a:avLst>
          </a:prstGeom>
          <a:solidFill>
            <a:srgbClr val="432A31"/>
          </a:solidFill>
          <a:ln>
            <a:solidFill>
              <a:srgbClr val="432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5129784"/>
            <a:ext cx="102412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ptos"/>
              </a:rPr>
              <a:t>Current status: research / educational prototype. Clinical validity and regulatory readiness have not been established.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612648"/>
            <a:ext cx="1097280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2600" b="1" i="0">
                <a:solidFill>
                  <a:srgbClr val="F7FAFC"/>
                </a:solidFill>
                <a:latin typeface="Aptos"/>
              </a:rPr>
              <a:t>A gated roadmap builds credibility before clinical deployment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25296"/>
            <a:ext cx="11027664" cy="0"/>
          </a:xfrm>
          <a:prstGeom prst="line">
            <a:avLst/>
          </a:prstGeom>
          <a:ln w="12700">
            <a:solidFill>
              <a:srgbClr val="2F48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A9B8C9"/>
                </a:solidFill>
                <a:latin typeface="Aptos"/>
              </a:rP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72768"/>
            <a:ext cx="1508760" cy="658368"/>
          </a:xfrm>
          <a:prstGeom prst="roundRect">
            <a:avLst>
              <a:gd name="adj" fmla="val 12000"/>
            </a:avLst>
          </a:prstGeom>
          <a:solidFill>
            <a:srgbClr val="26C2B2"/>
          </a:solidFill>
          <a:ln>
            <a:solidFill>
              <a:srgbClr val="26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773936"/>
            <a:ext cx="129844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D192C"/>
                </a:solidFill>
                <a:latin typeface="Aptos"/>
              </a:rPr>
              <a:t>PHASE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5728" y="1901952"/>
            <a:ext cx="329184" cy="0"/>
          </a:xfrm>
          <a:prstGeom prst="line">
            <a:avLst/>
          </a:prstGeom>
          <a:ln w="25400">
            <a:solidFill>
              <a:srgbClr val="26C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07792" y="1609344"/>
            <a:ext cx="2788920" cy="2468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ptos"/>
              </a:rPr>
              <a:t>DATA &amp; PIPELINE 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7568" y="1609344"/>
            <a:ext cx="530352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Verify provenance, target definitions, data matching, preprocessing lifecycle and leakage.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560320"/>
            <a:ext cx="1508760" cy="658368"/>
          </a:xfrm>
          <a:prstGeom prst="roundRect">
            <a:avLst>
              <a:gd name="adj" fmla="val 12000"/>
            </a:avLst>
          </a:prstGeom>
          <a:solidFill>
            <a:srgbClr val="67D5E8"/>
          </a:solidFill>
          <a:ln>
            <a:solidFill>
              <a:srgbClr val="67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2761488"/>
            <a:ext cx="129844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D192C"/>
                </a:solidFill>
                <a:latin typeface="Aptos"/>
              </a:rPr>
              <a:t>PHASE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95728" y="2889503"/>
            <a:ext cx="329184" cy="0"/>
          </a:xfrm>
          <a:prstGeom prst="line">
            <a:avLst/>
          </a:prstGeom>
          <a:ln w="25400">
            <a:solidFill>
              <a:srgbClr val="67D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07792" y="2596896"/>
            <a:ext cx="2788920" cy="2468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ptos"/>
              </a:rPr>
              <a:t>MODEL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2596896"/>
            <a:ext cx="530352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Reproduce metrics, compare baselines, test calibration and subgroup performance.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547872"/>
            <a:ext cx="1508760" cy="658368"/>
          </a:xfrm>
          <a:prstGeom prst="roundRect">
            <a:avLst>
              <a:gd name="adj" fmla="val 12000"/>
            </a:avLst>
          </a:prstGeom>
          <a:solidFill>
            <a:srgbClr val="F4BE57"/>
          </a:solidFill>
          <a:ln>
            <a:solidFill>
              <a:srgbClr val="F4B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749039"/>
            <a:ext cx="129844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D192C"/>
                </a:solidFill>
                <a:latin typeface="Aptos"/>
              </a:rPr>
              <a:t>PHASE 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95728" y="3877056"/>
            <a:ext cx="329184" cy="0"/>
          </a:xfrm>
          <a:prstGeom prst="line">
            <a:avLst/>
          </a:prstGeom>
          <a:ln w="25400">
            <a:solidFill>
              <a:srgbClr val="F4B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907792" y="3584448"/>
            <a:ext cx="2788920" cy="2468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ptos"/>
              </a:rPr>
              <a:t>ENGINEERING HARDENING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3584448"/>
            <a:ext cx="530352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Tests, stable paths, configuration, API security, monitoring and model versioning.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535424"/>
            <a:ext cx="1508760" cy="658368"/>
          </a:xfrm>
          <a:prstGeom prst="roundRect">
            <a:avLst>
              <a:gd name="adj" fmla="val 12000"/>
            </a:avLst>
          </a:prstGeom>
          <a:solidFill>
            <a:srgbClr val="6CCF9A"/>
          </a:solidFill>
          <a:ln>
            <a:solidFill>
              <a:srgbClr val="6CC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4736592"/>
            <a:ext cx="129844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D192C"/>
                </a:solidFill>
                <a:latin typeface="Aptos"/>
              </a:rPr>
              <a:t>PHASE 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95728" y="4864608"/>
            <a:ext cx="329184" cy="0"/>
          </a:xfrm>
          <a:prstGeom prst="line">
            <a:avLst/>
          </a:prstGeom>
          <a:ln w="25400">
            <a:solidFill>
              <a:srgbClr val="6CC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907792" y="4572000"/>
            <a:ext cx="2788920" cy="2468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F7FAFC"/>
                </a:solidFill>
                <a:latin typeface="Aptos"/>
              </a:rPr>
              <a:t>CONTROLLED 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87568" y="4572000"/>
            <a:ext cx="530352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A9B8C9"/>
                </a:solidFill>
                <a:latin typeface="Aptos"/>
              </a:rPr>
              <a:t>Partner with care teams, define intervention protocol, measure workflow outcomes.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232" y="1024128"/>
            <a:ext cx="10698480" cy="7772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F7FAFC"/>
                </a:solidFill>
                <a:latin typeface="Aptos"/>
              </a:rPr>
              <a:t>Validate the decision before scaling the prediction.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103120"/>
            <a:ext cx="228600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67D5E8"/>
                </a:solidFill>
                <a:latin typeface="Aptos"/>
              </a:rPr>
              <a:t>What I bring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42032"/>
            <a:ext cx="5623560" cy="2057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9B8C9"/>
                </a:solidFill>
                <a:latin typeface="Aptos"/>
              </a:defRPr>
            </a:pPr>
            <a:r>
              <a:t>•  Healthcare-aware problem framing and systems thinking</a:t>
            </a:r>
          </a:p>
          <a:p>
            <a:pPr>
              <a:spcAft>
                <a:spcPts val="800"/>
              </a:spcAft>
              <a:defRPr sz="1400">
                <a:solidFill>
                  <a:srgbClr val="A9B8C9"/>
                </a:solidFill>
                <a:latin typeface="Aptos"/>
              </a:defRPr>
            </a:pPr>
            <a:r>
              <a:t>•  Hands-on ML engineering: feature pipeline, LightGBM, API and UI</a:t>
            </a:r>
          </a:p>
          <a:p>
            <a:pPr>
              <a:spcAft>
                <a:spcPts val="800"/>
              </a:spcAft>
              <a:defRPr sz="1400">
                <a:solidFill>
                  <a:srgbClr val="A9B8C9"/>
                </a:solidFill>
                <a:latin typeface="Aptos"/>
              </a:defRPr>
            </a:pPr>
            <a:r>
              <a:t>•  Honest interpretation of model results and data limitations</a:t>
            </a:r>
          </a:p>
          <a:p>
            <a:pPr>
              <a:spcAft>
                <a:spcPts val="800"/>
              </a:spcAft>
              <a:defRPr sz="1400">
                <a:solidFill>
                  <a:srgbClr val="A9B8C9"/>
                </a:solidFill>
                <a:latin typeface="Aptos"/>
              </a:defRPr>
            </a:pPr>
            <a:r>
              <a:t>•  A practical, measurable path from prototype to controlled 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2148840"/>
            <a:ext cx="4297680" cy="2286000"/>
          </a:xfrm>
          <a:prstGeom prst="roundRect">
            <a:avLst>
              <a:gd name="adj" fmla="val 12000"/>
            </a:avLst>
          </a:prstGeom>
          <a:solidFill>
            <a:srgbClr val="143347"/>
          </a:solidFill>
          <a:ln>
            <a:solidFill>
              <a:srgbClr val="143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5472" y="2450592"/>
            <a:ext cx="34747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26C2B2"/>
                </a:solidFill>
                <a:latin typeface="Aptos"/>
              </a:rPr>
              <a:t>PROPOSED 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472" y="2880360"/>
            <a:ext cx="3520440" cy="10058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F7FAFC"/>
                </a:solidFill>
                <a:latin typeface="Aptos"/>
              </a:rPr>
              <a:t>Align on one readmission workflow → verify data → agree success metrics → run a controlled evaluation.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431536"/>
            <a:ext cx="530352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F7FAFC"/>
                </a:solidFill>
                <a:latin typeface="Aptos"/>
              </a:rPr>
              <a:t>Hospital Readmission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833872"/>
            <a:ext cx="987552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67D5E8"/>
                </a:solidFill>
                <a:latin typeface="Aptos"/>
              </a:rPr>
              <a:t>My approach: evidence first, technology second, patient and business outcomes always.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108192"/>
            <a:ext cx="1280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26C2B2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1295</Words>
  <Application>Microsoft Office PowerPoint</Application>
  <PresentationFormat>Widescreen</PresentationFormat>
  <Paragraphs>201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Readmission Prediction — AI &amp; Healthcare Pitch Deck</dc:title>
  <dc:subject>Client and hiring-manager pitch showcasing healthcare AI, machine learning and strategic problem-solving</dc:subject>
  <dc:creator>Subrahmanyam Uppaluru</dc:creator>
  <cp:keywords>Hospital Readmission, Healthcare AI, LightGBM, TF-IDF, FastAPI, React, MLflow, Responsible AI</cp:keywords>
  <dc:description>generated using python-pptx</dc:description>
  <cp:lastModifiedBy>subrahmanyam uppaluru</cp:lastModifiedBy>
  <cp:revision>3</cp:revision>
  <dcterms:created xsi:type="dcterms:W3CDTF">2013-01-27T09:14:16Z</dcterms:created>
  <dcterms:modified xsi:type="dcterms:W3CDTF">2026-10-13T09:41:20Z</dcterms:modified>
  <cp:category/>
</cp:coreProperties>
</file>