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9B806D-D2AE-C727-D4FC-B65223AC9D9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1735C867-2ACD-93C5-93E1-C77B3DA15D8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7C2C920A-79EF-62B3-2FC8-FF2D31F0256A}"/>
              </a:ext>
            </a:extLst>
          </p:cNvPr>
          <p:cNvSpPr>
            <a:spLocks noGrp="1"/>
          </p:cNvSpPr>
          <p:nvPr>
            <p:ph type="dt" sz="half" idx="10"/>
          </p:nvPr>
        </p:nvSpPr>
        <p:spPr/>
        <p:txBody>
          <a:bodyPr/>
          <a:lstStyle/>
          <a:p>
            <a:fld id="{0E6A2777-D3FC-4DC5-BF5A-1C6EE331EAF9}" type="datetimeFigureOut">
              <a:rPr lang="en-IN" smtClean="0"/>
              <a:t>13-10-2026</a:t>
            </a:fld>
            <a:endParaRPr lang="en-IN"/>
          </a:p>
        </p:txBody>
      </p:sp>
      <p:sp>
        <p:nvSpPr>
          <p:cNvPr id="5" name="Footer Placeholder 4">
            <a:extLst>
              <a:ext uri="{FF2B5EF4-FFF2-40B4-BE49-F238E27FC236}">
                <a16:creationId xmlns:a16="http://schemas.microsoft.com/office/drawing/2014/main" id="{2BF77ECE-D5F2-8766-05DF-BEEEBFE5B3F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B71FA06-7DA6-706E-0248-ED91EEF94F7B}"/>
              </a:ext>
            </a:extLst>
          </p:cNvPr>
          <p:cNvSpPr>
            <a:spLocks noGrp="1"/>
          </p:cNvSpPr>
          <p:nvPr>
            <p:ph type="sldNum" sz="quarter" idx="12"/>
          </p:nvPr>
        </p:nvSpPr>
        <p:spPr/>
        <p:txBody>
          <a:bodyPr/>
          <a:lstStyle/>
          <a:p>
            <a:fld id="{076F253F-E1E8-47C4-B946-624206227D20}" type="slidenum">
              <a:rPr lang="en-IN" smtClean="0"/>
              <a:t>‹#›</a:t>
            </a:fld>
            <a:endParaRPr lang="en-IN"/>
          </a:p>
        </p:txBody>
      </p:sp>
    </p:spTree>
    <p:extLst>
      <p:ext uri="{BB962C8B-B14F-4D97-AF65-F5344CB8AC3E}">
        <p14:creationId xmlns:p14="http://schemas.microsoft.com/office/powerpoint/2010/main" val="37997914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1E8702-4A33-AF5A-6210-377D2A4406A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ED167FD-CE8B-2170-67A7-163406D62C3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0906FC5-B460-D738-C939-ED34989ADE8E}"/>
              </a:ext>
            </a:extLst>
          </p:cNvPr>
          <p:cNvSpPr>
            <a:spLocks noGrp="1"/>
          </p:cNvSpPr>
          <p:nvPr>
            <p:ph type="dt" sz="half" idx="10"/>
          </p:nvPr>
        </p:nvSpPr>
        <p:spPr/>
        <p:txBody>
          <a:bodyPr/>
          <a:lstStyle/>
          <a:p>
            <a:fld id="{0E6A2777-D3FC-4DC5-BF5A-1C6EE331EAF9}" type="datetimeFigureOut">
              <a:rPr lang="en-IN" smtClean="0"/>
              <a:t>13-10-2026</a:t>
            </a:fld>
            <a:endParaRPr lang="en-IN"/>
          </a:p>
        </p:txBody>
      </p:sp>
      <p:sp>
        <p:nvSpPr>
          <p:cNvPr id="5" name="Footer Placeholder 4">
            <a:extLst>
              <a:ext uri="{FF2B5EF4-FFF2-40B4-BE49-F238E27FC236}">
                <a16:creationId xmlns:a16="http://schemas.microsoft.com/office/drawing/2014/main" id="{E8ACF178-0EC9-FA8A-8AB8-D8DEDFF3DDE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CBE2809-5B38-A0CC-58CB-0213FDB1738C}"/>
              </a:ext>
            </a:extLst>
          </p:cNvPr>
          <p:cNvSpPr>
            <a:spLocks noGrp="1"/>
          </p:cNvSpPr>
          <p:nvPr>
            <p:ph type="sldNum" sz="quarter" idx="12"/>
          </p:nvPr>
        </p:nvSpPr>
        <p:spPr/>
        <p:txBody>
          <a:bodyPr/>
          <a:lstStyle/>
          <a:p>
            <a:fld id="{076F253F-E1E8-47C4-B946-624206227D20}" type="slidenum">
              <a:rPr lang="en-IN" smtClean="0"/>
              <a:t>‹#›</a:t>
            </a:fld>
            <a:endParaRPr lang="en-IN"/>
          </a:p>
        </p:txBody>
      </p:sp>
    </p:spTree>
    <p:extLst>
      <p:ext uri="{BB962C8B-B14F-4D97-AF65-F5344CB8AC3E}">
        <p14:creationId xmlns:p14="http://schemas.microsoft.com/office/powerpoint/2010/main" val="13287802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643B4B-2AEC-1741-7651-1C0BD201600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6373FF21-1CC5-6EBE-AD0B-639967FC4A0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2FAC115-56AA-7C06-397A-C121B94780F3}"/>
              </a:ext>
            </a:extLst>
          </p:cNvPr>
          <p:cNvSpPr>
            <a:spLocks noGrp="1"/>
          </p:cNvSpPr>
          <p:nvPr>
            <p:ph type="dt" sz="half" idx="10"/>
          </p:nvPr>
        </p:nvSpPr>
        <p:spPr/>
        <p:txBody>
          <a:bodyPr/>
          <a:lstStyle/>
          <a:p>
            <a:fld id="{0E6A2777-D3FC-4DC5-BF5A-1C6EE331EAF9}" type="datetimeFigureOut">
              <a:rPr lang="en-IN" smtClean="0"/>
              <a:t>13-10-2026</a:t>
            </a:fld>
            <a:endParaRPr lang="en-IN"/>
          </a:p>
        </p:txBody>
      </p:sp>
      <p:sp>
        <p:nvSpPr>
          <p:cNvPr id="5" name="Footer Placeholder 4">
            <a:extLst>
              <a:ext uri="{FF2B5EF4-FFF2-40B4-BE49-F238E27FC236}">
                <a16:creationId xmlns:a16="http://schemas.microsoft.com/office/drawing/2014/main" id="{44711300-8A3E-941F-F447-3B3BA00E147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6BD04D1-A5D3-BFA7-FD71-982C3CC6F932}"/>
              </a:ext>
            </a:extLst>
          </p:cNvPr>
          <p:cNvSpPr>
            <a:spLocks noGrp="1"/>
          </p:cNvSpPr>
          <p:nvPr>
            <p:ph type="sldNum" sz="quarter" idx="12"/>
          </p:nvPr>
        </p:nvSpPr>
        <p:spPr/>
        <p:txBody>
          <a:bodyPr/>
          <a:lstStyle/>
          <a:p>
            <a:fld id="{076F253F-E1E8-47C4-B946-624206227D20}" type="slidenum">
              <a:rPr lang="en-IN" smtClean="0"/>
              <a:t>‹#›</a:t>
            </a:fld>
            <a:endParaRPr lang="en-IN"/>
          </a:p>
        </p:txBody>
      </p:sp>
    </p:spTree>
    <p:extLst>
      <p:ext uri="{BB962C8B-B14F-4D97-AF65-F5344CB8AC3E}">
        <p14:creationId xmlns:p14="http://schemas.microsoft.com/office/powerpoint/2010/main" val="29716022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99BB2E-FD46-146D-3B11-1386B71BBCE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90D133E-2257-8F3B-3AC7-EFE071FC9D7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3C0E1E3E-E008-8C01-F964-A9E7CB8A984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63C6C25C-F08E-BA3D-79FD-00E269CCF8F2}"/>
              </a:ext>
            </a:extLst>
          </p:cNvPr>
          <p:cNvSpPr>
            <a:spLocks noGrp="1"/>
          </p:cNvSpPr>
          <p:nvPr>
            <p:ph type="dt" sz="half" idx="10"/>
          </p:nvPr>
        </p:nvSpPr>
        <p:spPr/>
        <p:txBody>
          <a:bodyPr/>
          <a:lstStyle/>
          <a:p>
            <a:fld id="{0E6A2777-D3FC-4DC5-BF5A-1C6EE331EAF9}" type="datetimeFigureOut">
              <a:rPr lang="en-IN" smtClean="0"/>
              <a:t>13-10-2026</a:t>
            </a:fld>
            <a:endParaRPr lang="en-IN"/>
          </a:p>
        </p:txBody>
      </p:sp>
      <p:sp>
        <p:nvSpPr>
          <p:cNvPr id="6" name="Footer Placeholder 5">
            <a:extLst>
              <a:ext uri="{FF2B5EF4-FFF2-40B4-BE49-F238E27FC236}">
                <a16:creationId xmlns:a16="http://schemas.microsoft.com/office/drawing/2014/main" id="{DD014F32-0CE7-001E-37A4-A8FBCA6C4DD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EBEDC36-9FFC-C472-5A2B-36780DF3DFE5}"/>
              </a:ext>
            </a:extLst>
          </p:cNvPr>
          <p:cNvSpPr>
            <a:spLocks noGrp="1"/>
          </p:cNvSpPr>
          <p:nvPr>
            <p:ph type="sldNum" sz="quarter" idx="12"/>
          </p:nvPr>
        </p:nvSpPr>
        <p:spPr/>
        <p:txBody>
          <a:bodyPr/>
          <a:lstStyle/>
          <a:p>
            <a:fld id="{076F253F-E1E8-47C4-B946-624206227D20}" type="slidenum">
              <a:rPr lang="en-IN" smtClean="0"/>
              <a:t>‹#›</a:t>
            </a:fld>
            <a:endParaRPr lang="en-IN"/>
          </a:p>
        </p:txBody>
      </p:sp>
    </p:spTree>
    <p:extLst>
      <p:ext uri="{BB962C8B-B14F-4D97-AF65-F5344CB8AC3E}">
        <p14:creationId xmlns:p14="http://schemas.microsoft.com/office/powerpoint/2010/main" val="10248577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09A0F8-2EC9-3623-6283-0326752E561C}"/>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CB8E895-1C0F-3246-3256-96ACA282CE4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FF509B5-4F1D-BC88-2312-CC2CA42C770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F10387CD-2824-ADBA-76BC-FE2429E7147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0F73A6B-8A5D-8A88-58E7-68306F8F795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8E46F761-7B66-6F1A-3C81-A7EDE060475B}"/>
              </a:ext>
            </a:extLst>
          </p:cNvPr>
          <p:cNvSpPr>
            <a:spLocks noGrp="1"/>
          </p:cNvSpPr>
          <p:nvPr>
            <p:ph type="dt" sz="half" idx="10"/>
          </p:nvPr>
        </p:nvSpPr>
        <p:spPr/>
        <p:txBody>
          <a:bodyPr/>
          <a:lstStyle/>
          <a:p>
            <a:fld id="{0E6A2777-D3FC-4DC5-BF5A-1C6EE331EAF9}" type="datetimeFigureOut">
              <a:rPr lang="en-IN" smtClean="0"/>
              <a:t>13-10-2026</a:t>
            </a:fld>
            <a:endParaRPr lang="en-IN"/>
          </a:p>
        </p:txBody>
      </p:sp>
      <p:sp>
        <p:nvSpPr>
          <p:cNvPr id="8" name="Footer Placeholder 7">
            <a:extLst>
              <a:ext uri="{FF2B5EF4-FFF2-40B4-BE49-F238E27FC236}">
                <a16:creationId xmlns:a16="http://schemas.microsoft.com/office/drawing/2014/main" id="{F3A76E87-6D73-1F11-F617-010612312C36}"/>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F71E2A40-69FB-1337-B4AA-15B7C3DE3170}"/>
              </a:ext>
            </a:extLst>
          </p:cNvPr>
          <p:cNvSpPr>
            <a:spLocks noGrp="1"/>
          </p:cNvSpPr>
          <p:nvPr>
            <p:ph type="sldNum" sz="quarter" idx="12"/>
          </p:nvPr>
        </p:nvSpPr>
        <p:spPr/>
        <p:txBody>
          <a:bodyPr/>
          <a:lstStyle/>
          <a:p>
            <a:fld id="{076F253F-E1E8-47C4-B946-624206227D20}" type="slidenum">
              <a:rPr lang="en-IN" smtClean="0"/>
              <a:t>‹#›</a:t>
            </a:fld>
            <a:endParaRPr lang="en-IN"/>
          </a:p>
        </p:txBody>
      </p:sp>
    </p:spTree>
    <p:extLst>
      <p:ext uri="{BB962C8B-B14F-4D97-AF65-F5344CB8AC3E}">
        <p14:creationId xmlns:p14="http://schemas.microsoft.com/office/powerpoint/2010/main" val="24048725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521A74-03CF-DDE9-4141-68520566CB3B}"/>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11F9A053-EF43-950E-131A-E25942108040}"/>
              </a:ext>
            </a:extLst>
          </p:cNvPr>
          <p:cNvSpPr>
            <a:spLocks noGrp="1"/>
          </p:cNvSpPr>
          <p:nvPr>
            <p:ph type="dt" sz="half" idx="10"/>
          </p:nvPr>
        </p:nvSpPr>
        <p:spPr/>
        <p:txBody>
          <a:bodyPr/>
          <a:lstStyle/>
          <a:p>
            <a:fld id="{0E6A2777-D3FC-4DC5-BF5A-1C6EE331EAF9}" type="datetimeFigureOut">
              <a:rPr lang="en-IN" smtClean="0"/>
              <a:t>13-10-2026</a:t>
            </a:fld>
            <a:endParaRPr lang="en-IN"/>
          </a:p>
        </p:txBody>
      </p:sp>
      <p:sp>
        <p:nvSpPr>
          <p:cNvPr id="4" name="Footer Placeholder 3">
            <a:extLst>
              <a:ext uri="{FF2B5EF4-FFF2-40B4-BE49-F238E27FC236}">
                <a16:creationId xmlns:a16="http://schemas.microsoft.com/office/drawing/2014/main" id="{C6DCF915-C79A-3A1A-E3D7-D37DFCC105CE}"/>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46D095CE-A993-4819-F8CD-1CFADDD75FD3}"/>
              </a:ext>
            </a:extLst>
          </p:cNvPr>
          <p:cNvSpPr>
            <a:spLocks noGrp="1"/>
          </p:cNvSpPr>
          <p:nvPr>
            <p:ph type="sldNum" sz="quarter" idx="12"/>
          </p:nvPr>
        </p:nvSpPr>
        <p:spPr/>
        <p:txBody>
          <a:bodyPr/>
          <a:lstStyle/>
          <a:p>
            <a:fld id="{076F253F-E1E8-47C4-B946-624206227D20}" type="slidenum">
              <a:rPr lang="en-IN" smtClean="0"/>
              <a:t>‹#›</a:t>
            </a:fld>
            <a:endParaRPr lang="en-IN"/>
          </a:p>
        </p:txBody>
      </p:sp>
    </p:spTree>
    <p:extLst>
      <p:ext uri="{BB962C8B-B14F-4D97-AF65-F5344CB8AC3E}">
        <p14:creationId xmlns:p14="http://schemas.microsoft.com/office/powerpoint/2010/main" val="29284502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BBC043A-A17C-F3E8-B7D7-9817C727F0C8}"/>
              </a:ext>
            </a:extLst>
          </p:cNvPr>
          <p:cNvSpPr>
            <a:spLocks noGrp="1"/>
          </p:cNvSpPr>
          <p:nvPr>
            <p:ph type="dt" sz="half" idx="10"/>
          </p:nvPr>
        </p:nvSpPr>
        <p:spPr/>
        <p:txBody>
          <a:bodyPr/>
          <a:lstStyle/>
          <a:p>
            <a:fld id="{0E6A2777-D3FC-4DC5-BF5A-1C6EE331EAF9}" type="datetimeFigureOut">
              <a:rPr lang="en-IN" smtClean="0"/>
              <a:t>13-10-2026</a:t>
            </a:fld>
            <a:endParaRPr lang="en-IN"/>
          </a:p>
        </p:txBody>
      </p:sp>
      <p:sp>
        <p:nvSpPr>
          <p:cNvPr id="3" name="Footer Placeholder 2">
            <a:extLst>
              <a:ext uri="{FF2B5EF4-FFF2-40B4-BE49-F238E27FC236}">
                <a16:creationId xmlns:a16="http://schemas.microsoft.com/office/drawing/2014/main" id="{9DC1FF6F-D1AD-FA1C-8AE2-8FDF2559F10A}"/>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C13360FD-D0B2-EE7D-B968-F1FD6E352193}"/>
              </a:ext>
            </a:extLst>
          </p:cNvPr>
          <p:cNvSpPr>
            <a:spLocks noGrp="1"/>
          </p:cNvSpPr>
          <p:nvPr>
            <p:ph type="sldNum" sz="quarter" idx="12"/>
          </p:nvPr>
        </p:nvSpPr>
        <p:spPr/>
        <p:txBody>
          <a:bodyPr/>
          <a:lstStyle/>
          <a:p>
            <a:fld id="{076F253F-E1E8-47C4-B946-624206227D20}" type="slidenum">
              <a:rPr lang="en-IN" smtClean="0"/>
              <a:t>‹#›</a:t>
            </a:fld>
            <a:endParaRPr lang="en-IN"/>
          </a:p>
        </p:txBody>
      </p:sp>
    </p:spTree>
    <p:extLst>
      <p:ext uri="{BB962C8B-B14F-4D97-AF65-F5344CB8AC3E}">
        <p14:creationId xmlns:p14="http://schemas.microsoft.com/office/powerpoint/2010/main" val="12971334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24C1E8-BCF3-A206-0935-B6CE5E5B955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3160EBE2-4A97-7961-DD5B-D66C45D4F76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F69B4339-4537-070D-0CAB-08A5B82FE81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4578866-65B3-7B89-735A-05B1C56DD142}"/>
              </a:ext>
            </a:extLst>
          </p:cNvPr>
          <p:cNvSpPr>
            <a:spLocks noGrp="1"/>
          </p:cNvSpPr>
          <p:nvPr>
            <p:ph type="dt" sz="half" idx="10"/>
          </p:nvPr>
        </p:nvSpPr>
        <p:spPr/>
        <p:txBody>
          <a:bodyPr/>
          <a:lstStyle/>
          <a:p>
            <a:fld id="{0E6A2777-D3FC-4DC5-BF5A-1C6EE331EAF9}" type="datetimeFigureOut">
              <a:rPr lang="en-IN" smtClean="0"/>
              <a:t>13-10-2026</a:t>
            </a:fld>
            <a:endParaRPr lang="en-IN"/>
          </a:p>
        </p:txBody>
      </p:sp>
      <p:sp>
        <p:nvSpPr>
          <p:cNvPr id="6" name="Footer Placeholder 5">
            <a:extLst>
              <a:ext uri="{FF2B5EF4-FFF2-40B4-BE49-F238E27FC236}">
                <a16:creationId xmlns:a16="http://schemas.microsoft.com/office/drawing/2014/main" id="{1B7AD751-D9F3-3678-AF9A-00F65965E15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D76D648-4601-A203-30F5-5BC3833F1DF8}"/>
              </a:ext>
            </a:extLst>
          </p:cNvPr>
          <p:cNvSpPr>
            <a:spLocks noGrp="1"/>
          </p:cNvSpPr>
          <p:nvPr>
            <p:ph type="sldNum" sz="quarter" idx="12"/>
          </p:nvPr>
        </p:nvSpPr>
        <p:spPr/>
        <p:txBody>
          <a:bodyPr/>
          <a:lstStyle/>
          <a:p>
            <a:fld id="{076F253F-E1E8-47C4-B946-624206227D20}" type="slidenum">
              <a:rPr lang="en-IN" smtClean="0"/>
              <a:t>‹#›</a:t>
            </a:fld>
            <a:endParaRPr lang="en-IN"/>
          </a:p>
        </p:txBody>
      </p:sp>
    </p:spTree>
    <p:extLst>
      <p:ext uri="{BB962C8B-B14F-4D97-AF65-F5344CB8AC3E}">
        <p14:creationId xmlns:p14="http://schemas.microsoft.com/office/powerpoint/2010/main" val="42549662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9F36A3-29A0-6784-169D-938475A7A99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F7DA227F-C3A5-9B77-C04A-E08DE61426B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DA55E3D3-EC4D-BA8A-FB3A-1EA0B44713A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1ADAB5E-AC70-5BDB-156D-F5D7F450FF03}"/>
              </a:ext>
            </a:extLst>
          </p:cNvPr>
          <p:cNvSpPr>
            <a:spLocks noGrp="1"/>
          </p:cNvSpPr>
          <p:nvPr>
            <p:ph type="dt" sz="half" idx="10"/>
          </p:nvPr>
        </p:nvSpPr>
        <p:spPr/>
        <p:txBody>
          <a:bodyPr/>
          <a:lstStyle/>
          <a:p>
            <a:fld id="{0E6A2777-D3FC-4DC5-BF5A-1C6EE331EAF9}" type="datetimeFigureOut">
              <a:rPr lang="en-IN" smtClean="0"/>
              <a:t>13-10-2026</a:t>
            </a:fld>
            <a:endParaRPr lang="en-IN"/>
          </a:p>
        </p:txBody>
      </p:sp>
      <p:sp>
        <p:nvSpPr>
          <p:cNvPr id="6" name="Footer Placeholder 5">
            <a:extLst>
              <a:ext uri="{FF2B5EF4-FFF2-40B4-BE49-F238E27FC236}">
                <a16:creationId xmlns:a16="http://schemas.microsoft.com/office/drawing/2014/main" id="{C2AB963F-2322-9419-615F-AF9DFEBDCFA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183B14A-02E8-01EC-E72A-F3FFA03692BD}"/>
              </a:ext>
            </a:extLst>
          </p:cNvPr>
          <p:cNvSpPr>
            <a:spLocks noGrp="1"/>
          </p:cNvSpPr>
          <p:nvPr>
            <p:ph type="sldNum" sz="quarter" idx="12"/>
          </p:nvPr>
        </p:nvSpPr>
        <p:spPr/>
        <p:txBody>
          <a:bodyPr/>
          <a:lstStyle/>
          <a:p>
            <a:fld id="{076F253F-E1E8-47C4-B946-624206227D20}" type="slidenum">
              <a:rPr lang="en-IN" smtClean="0"/>
              <a:t>‹#›</a:t>
            </a:fld>
            <a:endParaRPr lang="en-IN"/>
          </a:p>
        </p:txBody>
      </p:sp>
    </p:spTree>
    <p:extLst>
      <p:ext uri="{BB962C8B-B14F-4D97-AF65-F5344CB8AC3E}">
        <p14:creationId xmlns:p14="http://schemas.microsoft.com/office/powerpoint/2010/main" val="14026889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CCDA84-3138-A0FF-0390-5C3716C5F8E4}"/>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784CD7B-F948-6CCD-F072-178929F963A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7E6BC6A-D58A-226B-3EA1-3C44FC410E6C}"/>
              </a:ext>
            </a:extLst>
          </p:cNvPr>
          <p:cNvSpPr>
            <a:spLocks noGrp="1"/>
          </p:cNvSpPr>
          <p:nvPr>
            <p:ph type="dt" sz="half" idx="10"/>
          </p:nvPr>
        </p:nvSpPr>
        <p:spPr/>
        <p:txBody>
          <a:bodyPr/>
          <a:lstStyle/>
          <a:p>
            <a:fld id="{0E6A2777-D3FC-4DC5-BF5A-1C6EE331EAF9}" type="datetimeFigureOut">
              <a:rPr lang="en-IN" smtClean="0"/>
              <a:t>13-10-2026</a:t>
            </a:fld>
            <a:endParaRPr lang="en-IN"/>
          </a:p>
        </p:txBody>
      </p:sp>
      <p:sp>
        <p:nvSpPr>
          <p:cNvPr id="5" name="Footer Placeholder 4">
            <a:extLst>
              <a:ext uri="{FF2B5EF4-FFF2-40B4-BE49-F238E27FC236}">
                <a16:creationId xmlns:a16="http://schemas.microsoft.com/office/drawing/2014/main" id="{7792EBDA-B213-3EF1-3E31-ED0D49ABF67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7FDAD4F-7928-6ACF-98DE-7BE02AD30E11}"/>
              </a:ext>
            </a:extLst>
          </p:cNvPr>
          <p:cNvSpPr>
            <a:spLocks noGrp="1"/>
          </p:cNvSpPr>
          <p:nvPr>
            <p:ph type="sldNum" sz="quarter" idx="12"/>
          </p:nvPr>
        </p:nvSpPr>
        <p:spPr/>
        <p:txBody>
          <a:bodyPr/>
          <a:lstStyle/>
          <a:p>
            <a:fld id="{076F253F-E1E8-47C4-B946-624206227D20}" type="slidenum">
              <a:rPr lang="en-IN" smtClean="0"/>
              <a:t>‹#›</a:t>
            </a:fld>
            <a:endParaRPr lang="en-IN"/>
          </a:p>
        </p:txBody>
      </p:sp>
    </p:spTree>
    <p:extLst>
      <p:ext uri="{BB962C8B-B14F-4D97-AF65-F5344CB8AC3E}">
        <p14:creationId xmlns:p14="http://schemas.microsoft.com/office/powerpoint/2010/main" val="22633552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0254697-E728-AD6C-3193-317D9511D8D8}"/>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2E7EBAB-7327-BEC6-B69B-2F0A34B9B13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AFD7F1E-4CEB-2BBF-A0AF-5A2809145D04}"/>
              </a:ext>
            </a:extLst>
          </p:cNvPr>
          <p:cNvSpPr>
            <a:spLocks noGrp="1"/>
          </p:cNvSpPr>
          <p:nvPr>
            <p:ph type="dt" sz="half" idx="10"/>
          </p:nvPr>
        </p:nvSpPr>
        <p:spPr/>
        <p:txBody>
          <a:bodyPr/>
          <a:lstStyle/>
          <a:p>
            <a:fld id="{0E6A2777-D3FC-4DC5-BF5A-1C6EE331EAF9}" type="datetimeFigureOut">
              <a:rPr lang="en-IN" smtClean="0"/>
              <a:t>13-10-2026</a:t>
            </a:fld>
            <a:endParaRPr lang="en-IN"/>
          </a:p>
        </p:txBody>
      </p:sp>
      <p:sp>
        <p:nvSpPr>
          <p:cNvPr id="5" name="Footer Placeholder 4">
            <a:extLst>
              <a:ext uri="{FF2B5EF4-FFF2-40B4-BE49-F238E27FC236}">
                <a16:creationId xmlns:a16="http://schemas.microsoft.com/office/drawing/2014/main" id="{BD7E4931-1201-C39A-2823-211F00EBFE2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D51466B-4EF2-F456-1106-A01626793825}"/>
              </a:ext>
            </a:extLst>
          </p:cNvPr>
          <p:cNvSpPr>
            <a:spLocks noGrp="1"/>
          </p:cNvSpPr>
          <p:nvPr>
            <p:ph type="sldNum" sz="quarter" idx="12"/>
          </p:nvPr>
        </p:nvSpPr>
        <p:spPr/>
        <p:txBody>
          <a:bodyPr/>
          <a:lstStyle/>
          <a:p>
            <a:fld id="{076F253F-E1E8-47C4-B946-624206227D20}" type="slidenum">
              <a:rPr lang="en-IN" smtClean="0"/>
              <a:t>‹#›</a:t>
            </a:fld>
            <a:endParaRPr lang="en-IN"/>
          </a:p>
        </p:txBody>
      </p:sp>
    </p:spTree>
    <p:extLst>
      <p:ext uri="{BB962C8B-B14F-4D97-AF65-F5344CB8AC3E}">
        <p14:creationId xmlns:p14="http://schemas.microsoft.com/office/powerpoint/2010/main" val="11174529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B71A9D8-C68B-0841-ECA2-2C952C11C34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F8C4C91-B3C3-1487-71AE-BECA4506642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73F0865-6CE4-CB72-4ECE-4D6D3B6B0B6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E6A2777-D3FC-4DC5-BF5A-1C6EE331EAF9}" type="datetimeFigureOut">
              <a:rPr lang="en-IN" smtClean="0"/>
              <a:t>13-10-2026</a:t>
            </a:fld>
            <a:endParaRPr lang="en-IN"/>
          </a:p>
        </p:txBody>
      </p:sp>
      <p:sp>
        <p:nvSpPr>
          <p:cNvPr id="5" name="Footer Placeholder 4">
            <a:extLst>
              <a:ext uri="{FF2B5EF4-FFF2-40B4-BE49-F238E27FC236}">
                <a16:creationId xmlns:a16="http://schemas.microsoft.com/office/drawing/2014/main" id="{F99D3D67-0C11-40B4-608D-C9C981F2400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BA8BBFD5-16A8-9788-12D9-6A719E05D1A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76F253F-E1E8-47C4-B946-624206227D20}" type="slidenum">
              <a:rPr lang="en-IN" smtClean="0"/>
              <a:t>‹#›</a:t>
            </a:fld>
            <a:endParaRPr lang="en-IN"/>
          </a:p>
        </p:txBody>
      </p:sp>
    </p:spTree>
    <p:extLst>
      <p:ext uri="{BB962C8B-B14F-4D97-AF65-F5344CB8AC3E}">
        <p14:creationId xmlns:p14="http://schemas.microsoft.com/office/powerpoint/2010/main" val="340721808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7EA31642-F040-429F-86E7-49BDF3576FF2}"/>
              </a:ext>
            </a:extLst>
          </p:cNvPr>
          <p:cNvSpPr txBox="1"/>
          <p:nvPr/>
        </p:nvSpPr>
        <p:spPr>
          <a:xfrm>
            <a:off x="265470" y="357286"/>
            <a:ext cx="11484077" cy="4237057"/>
          </a:xfrm>
          <a:prstGeom prst="rect">
            <a:avLst/>
          </a:prstGeom>
          <a:noFill/>
        </p:spPr>
        <p:txBody>
          <a:bodyPr wrap="square">
            <a:spAutoFit/>
          </a:bodyPr>
          <a:lstStyle/>
          <a:p>
            <a:pPr>
              <a:lnSpc>
                <a:spcPct val="100000"/>
              </a:lnSpc>
              <a:spcBef>
                <a:spcPts val="2400"/>
              </a:spcBef>
              <a:buNone/>
            </a:pPr>
            <a:r>
              <a:rPr lang="en-US" sz="1800" b="1" kern="0" dirty="0">
                <a:solidFill>
                  <a:schemeClr val="tx1"/>
                </a:solidFill>
                <a:effectLst/>
                <a:latin typeface="+mn-lt"/>
                <a:ea typeface="MS Gothic" panose="020B0609070205080204" pitchFamily="49" charset="-128"/>
                <a:cs typeface="Times New Roman" panose="02020603050405020304" pitchFamily="18" charset="0"/>
              </a:rPr>
              <a:t>Hospital Readmission Prediction</a:t>
            </a:r>
          </a:p>
          <a:p>
            <a:pPr>
              <a:lnSpc>
                <a:spcPct val="100000"/>
              </a:lnSpc>
              <a:spcBef>
                <a:spcPts val="2400"/>
              </a:spcBef>
              <a:buNone/>
            </a:pPr>
            <a:endParaRPr lang="en-IN" sz="1800" b="1" kern="0" dirty="0">
              <a:solidFill>
                <a:schemeClr val="tx1"/>
              </a:solidFill>
              <a:effectLst/>
              <a:latin typeface="+mn-lt"/>
              <a:ea typeface="MS Gothic" panose="020B0609070205080204" pitchFamily="49" charset="-128"/>
              <a:cs typeface="Times New Roman" panose="02020603050405020304" pitchFamily="18" charset="0"/>
            </a:endParaRPr>
          </a:p>
          <a:p>
            <a:pPr>
              <a:lnSpc>
                <a:spcPct val="100000"/>
              </a:lnSpc>
              <a:spcAft>
                <a:spcPts val="1000"/>
              </a:spcAft>
              <a:buNone/>
            </a:pPr>
            <a:r>
              <a:rPr lang="en-US" sz="1800" dirty="0">
                <a:solidFill>
                  <a:schemeClr val="tx1"/>
                </a:solidFill>
                <a:effectLst/>
                <a:latin typeface="+mn-lt"/>
                <a:ea typeface="MS Mincho" panose="02020609040205080304" pitchFamily="49" charset="-128"/>
                <a:cs typeface="Times New Roman" panose="02020603050405020304" pitchFamily="18" charset="0"/>
              </a:rPr>
              <a:t>“Hello, and thank you for the opportunity to present this project.</a:t>
            </a:r>
            <a:endParaRPr lang="en-IN" sz="1800" dirty="0">
              <a:solidFill>
                <a:schemeClr val="tx1"/>
              </a:solidFill>
              <a:effectLst/>
              <a:latin typeface="+mn-lt"/>
              <a:ea typeface="MS Mincho" panose="02020609040205080304" pitchFamily="49" charset="-128"/>
              <a:cs typeface="Times New Roman" panose="02020603050405020304" pitchFamily="18" charset="0"/>
            </a:endParaRPr>
          </a:p>
          <a:p>
            <a:pPr>
              <a:lnSpc>
                <a:spcPct val="100000"/>
              </a:lnSpc>
              <a:spcAft>
                <a:spcPts val="1000"/>
              </a:spcAft>
              <a:buNone/>
            </a:pPr>
            <a:r>
              <a:rPr lang="en-US" sz="1800" dirty="0">
                <a:solidFill>
                  <a:schemeClr val="tx1"/>
                </a:solidFill>
                <a:effectLst/>
                <a:latin typeface="+mn-lt"/>
                <a:ea typeface="MS Mincho" panose="02020609040205080304" pitchFamily="49" charset="-128"/>
                <a:cs typeface="Times New Roman" panose="02020603050405020304" pitchFamily="18" charset="0"/>
              </a:rPr>
              <a:t>This is my Hospital Readmission Prediction System. It demonstrates how I approach a healthcare problem from both a technical and a strategic perspective.</a:t>
            </a:r>
            <a:endParaRPr lang="en-IN" sz="1800" dirty="0">
              <a:solidFill>
                <a:schemeClr val="tx1"/>
              </a:solidFill>
              <a:effectLst/>
              <a:latin typeface="+mn-lt"/>
              <a:ea typeface="MS Mincho" panose="02020609040205080304" pitchFamily="49" charset="-128"/>
              <a:cs typeface="Times New Roman" panose="02020603050405020304" pitchFamily="18" charset="0"/>
            </a:endParaRPr>
          </a:p>
          <a:p>
            <a:pPr>
              <a:lnSpc>
                <a:spcPct val="100000"/>
              </a:lnSpc>
              <a:spcAft>
                <a:spcPts val="1000"/>
              </a:spcAft>
              <a:buNone/>
            </a:pPr>
            <a:r>
              <a:rPr lang="en-US" sz="1800" dirty="0">
                <a:solidFill>
                  <a:schemeClr val="tx1"/>
                </a:solidFill>
                <a:effectLst/>
                <a:latin typeface="+mn-lt"/>
                <a:ea typeface="MS Mincho" panose="02020609040205080304" pitchFamily="49" charset="-128"/>
                <a:cs typeface="Times New Roman" panose="02020603050405020304" pitchFamily="18" charset="0"/>
              </a:rPr>
              <a:t>My objective is not just to train a model that predicts a label. I want to show how I define the problem, identify the data needed to investigate it, build an end-to-end machine-learning workflow, and decide what evidence is required before anyone should rely on the output.</a:t>
            </a:r>
            <a:endParaRPr lang="en-IN" sz="1800" dirty="0">
              <a:solidFill>
                <a:schemeClr val="tx1"/>
              </a:solidFill>
              <a:effectLst/>
              <a:latin typeface="+mn-lt"/>
              <a:ea typeface="MS Mincho" panose="02020609040205080304" pitchFamily="49" charset="-128"/>
              <a:cs typeface="Times New Roman" panose="02020603050405020304" pitchFamily="18" charset="0"/>
            </a:endParaRPr>
          </a:p>
          <a:p>
            <a:pPr>
              <a:lnSpc>
                <a:spcPct val="100000"/>
              </a:lnSpc>
              <a:spcAft>
                <a:spcPts val="1000"/>
              </a:spcAft>
              <a:buNone/>
            </a:pPr>
            <a:r>
              <a:rPr lang="en-US" sz="1800" dirty="0">
                <a:solidFill>
                  <a:schemeClr val="tx1"/>
                </a:solidFill>
                <a:effectLst/>
                <a:latin typeface="+mn-lt"/>
                <a:ea typeface="MS Mincho" panose="02020609040205080304" pitchFamily="49" charset="-128"/>
                <a:cs typeface="Times New Roman" panose="02020603050405020304" pitchFamily="18" charset="0"/>
              </a:rPr>
              <a:t>The prototype combines structured patient information with discharge-summary text, uses a LightGBM classifier, and exposes predictions through an API and user interfaces.</a:t>
            </a:r>
            <a:endParaRPr lang="en-IN" sz="1800" dirty="0">
              <a:solidFill>
                <a:schemeClr val="tx1"/>
              </a:solidFill>
              <a:effectLst/>
              <a:latin typeface="+mn-lt"/>
              <a:ea typeface="MS Mincho" panose="02020609040205080304" pitchFamily="49" charset="-128"/>
              <a:cs typeface="Times New Roman" panose="02020603050405020304" pitchFamily="18" charset="0"/>
            </a:endParaRPr>
          </a:p>
          <a:p>
            <a:pPr>
              <a:lnSpc>
                <a:spcPct val="100000"/>
              </a:lnSpc>
              <a:spcAft>
                <a:spcPts val="1000"/>
              </a:spcAft>
              <a:buNone/>
            </a:pPr>
            <a:r>
              <a:rPr lang="en-US" sz="1800" dirty="0">
                <a:solidFill>
                  <a:schemeClr val="tx1"/>
                </a:solidFill>
                <a:effectLst/>
                <a:latin typeface="+mn-lt"/>
                <a:ea typeface="MS Mincho" panose="02020609040205080304" pitchFamily="49" charset="-128"/>
                <a:cs typeface="Times New Roman" panose="02020603050405020304" pitchFamily="18" charset="0"/>
              </a:rPr>
              <a:t>I’ll cover the care problem, the solution architecture, what the current evaluation says, the risks I identified, and a practical path toward a controlled pilot. I will also distinguish what is implemented from what still needs validation.”</a:t>
            </a:r>
            <a:endParaRPr lang="en-IN" sz="1050" dirty="0">
              <a:solidFill>
                <a:srgbClr val="23303F"/>
              </a:solidFill>
              <a:effectLst/>
              <a:latin typeface="Aptos" panose="020B0004020202020204" pitchFamily="34" charset="0"/>
              <a:ea typeface="MS Mincho" panose="02020609040205080304" pitchFamily="49" charset="-128"/>
              <a:cs typeface="Times New Roman" panose="02020603050405020304" pitchFamily="18" charset="0"/>
            </a:endParaRPr>
          </a:p>
        </p:txBody>
      </p:sp>
    </p:spTree>
    <p:extLst>
      <p:ext uri="{BB962C8B-B14F-4D97-AF65-F5344CB8AC3E}">
        <p14:creationId xmlns:p14="http://schemas.microsoft.com/office/powerpoint/2010/main" val="42237961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12EC55-27DF-0109-E335-7C86518381D6}"/>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D3E03B5A-C21F-6825-83A3-F82D02693B8B}"/>
              </a:ext>
            </a:extLst>
          </p:cNvPr>
          <p:cNvSpPr txBox="1"/>
          <p:nvPr/>
        </p:nvSpPr>
        <p:spPr>
          <a:xfrm>
            <a:off x="285136" y="367825"/>
            <a:ext cx="11533238" cy="4385816"/>
          </a:xfrm>
          <a:prstGeom prst="rect">
            <a:avLst/>
          </a:prstGeom>
          <a:noFill/>
        </p:spPr>
        <p:txBody>
          <a:bodyPr wrap="square">
            <a:spAutoFit/>
          </a:bodyPr>
          <a:lstStyle/>
          <a:p>
            <a:pPr>
              <a:lnSpc>
                <a:spcPct val="100000"/>
              </a:lnSpc>
              <a:spcBef>
                <a:spcPts val="2400"/>
              </a:spcBef>
              <a:buNone/>
            </a:pPr>
            <a:r>
              <a:rPr lang="en-US" sz="1800" b="1" kern="0" dirty="0">
                <a:solidFill>
                  <a:schemeClr val="tx1"/>
                </a:solidFill>
                <a:effectLst/>
                <a:latin typeface="+mn-lt"/>
                <a:ea typeface="MS Gothic" panose="020B0609070205080204" pitchFamily="49" charset="-128"/>
                <a:cs typeface="Times New Roman" panose="02020603050405020304" pitchFamily="18" charset="0"/>
              </a:rPr>
              <a:t>The opportunity: anticipate readmission risk</a:t>
            </a:r>
          </a:p>
          <a:p>
            <a:pPr>
              <a:lnSpc>
                <a:spcPct val="100000"/>
              </a:lnSpc>
              <a:spcBef>
                <a:spcPts val="2400"/>
              </a:spcBef>
              <a:buNone/>
            </a:pPr>
            <a:endParaRPr lang="en-IN" sz="1800" b="1" kern="0" dirty="0">
              <a:solidFill>
                <a:schemeClr val="tx1"/>
              </a:solidFill>
              <a:effectLst/>
              <a:latin typeface="+mn-lt"/>
              <a:ea typeface="MS Gothic" panose="020B0609070205080204" pitchFamily="49" charset="-128"/>
              <a:cs typeface="Times New Roman" panose="02020603050405020304" pitchFamily="18" charset="0"/>
            </a:endParaRPr>
          </a:p>
          <a:p>
            <a:pPr>
              <a:lnSpc>
                <a:spcPct val="100000"/>
              </a:lnSpc>
              <a:spcAft>
                <a:spcPts val="1000"/>
              </a:spcAft>
              <a:buNone/>
            </a:pPr>
            <a:r>
              <a:rPr lang="en-US" sz="1800" dirty="0">
                <a:solidFill>
                  <a:schemeClr val="tx1"/>
                </a:solidFill>
                <a:effectLst/>
                <a:latin typeface="+mn-lt"/>
                <a:ea typeface="MS Mincho" panose="02020609040205080304" pitchFamily="49" charset="-128"/>
                <a:cs typeface="Times New Roman" panose="02020603050405020304" pitchFamily="18" charset="0"/>
              </a:rPr>
              <a:t>“Hospital readmission is an important healthcare and operational concern. When a patient returns to hospital, it may reflect clinical complexity, an ongoing care need, or an opportunity to improve discharge planning and follow-up. Not every readmission is preventable, so the goal should not be to treat every return as a failure.</a:t>
            </a:r>
            <a:endParaRPr lang="en-IN" sz="1800" dirty="0">
              <a:solidFill>
                <a:schemeClr val="tx1"/>
              </a:solidFill>
              <a:effectLst/>
              <a:latin typeface="+mn-lt"/>
              <a:ea typeface="MS Mincho" panose="02020609040205080304" pitchFamily="49" charset="-128"/>
              <a:cs typeface="Times New Roman" panose="02020603050405020304" pitchFamily="18" charset="0"/>
            </a:endParaRPr>
          </a:p>
          <a:p>
            <a:pPr>
              <a:lnSpc>
                <a:spcPct val="100000"/>
              </a:lnSpc>
              <a:spcAft>
                <a:spcPts val="1000"/>
              </a:spcAft>
              <a:buNone/>
            </a:pPr>
            <a:r>
              <a:rPr lang="en-US" sz="1800" dirty="0">
                <a:solidFill>
                  <a:schemeClr val="tx1"/>
                </a:solidFill>
                <a:effectLst/>
                <a:latin typeface="+mn-lt"/>
                <a:ea typeface="MS Mincho" panose="02020609040205080304" pitchFamily="49" charset="-128"/>
                <a:cs typeface="Times New Roman" panose="02020603050405020304" pitchFamily="18" charset="0"/>
              </a:rPr>
              <a:t>The opportunity explored here is whether information already available—such as age, diagnosis, medication count, lab results, prior admissions, length of stay, and discharge notes—can help identify patients who may need additional assessment or support after discharge.</a:t>
            </a:r>
            <a:endParaRPr lang="en-IN" sz="1800" dirty="0">
              <a:solidFill>
                <a:schemeClr val="tx1"/>
              </a:solidFill>
              <a:effectLst/>
              <a:latin typeface="+mn-lt"/>
              <a:ea typeface="MS Mincho" panose="02020609040205080304" pitchFamily="49" charset="-128"/>
              <a:cs typeface="Times New Roman" panose="02020603050405020304" pitchFamily="18" charset="0"/>
            </a:endParaRPr>
          </a:p>
          <a:p>
            <a:pPr>
              <a:lnSpc>
                <a:spcPct val="100000"/>
              </a:lnSpc>
              <a:spcAft>
                <a:spcPts val="1000"/>
              </a:spcAft>
              <a:buNone/>
            </a:pPr>
            <a:r>
              <a:rPr lang="en-US" sz="1800" dirty="0">
                <a:solidFill>
                  <a:schemeClr val="tx1"/>
                </a:solidFill>
                <a:effectLst/>
                <a:latin typeface="+mn-lt"/>
                <a:ea typeface="MS Mincho" panose="02020609040205080304" pitchFamily="49" charset="-128"/>
                <a:cs typeface="Times New Roman" panose="02020603050405020304" pitchFamily="18" charset="0"/>
              </a:rPr>
              <a:t>The prototype demonstrates an end-to-end workflow: feature preparation, a trained model, an API, and user interfaces. But technical functionality is only one part of the value proposition.</a:t>
            </a:r>
            <a:endParaRPr lang="en-IN" sz="1800" dirty="0">
              <a:solidFill>
                <a:schemeClr val="tx1"/>
              </a:solidFill>
              <a:effectLst/>
              <a:latin typeface="+mn-lt"/>
              <a:ea typeface="MS Mincho" panose="02020609040205080304" pitchFamily="49" charset="-128"/>
              <a:cs typeface="Times New Roman" panose="02020603050405020304" pitchFamily="18" charset="0"/>
            </a:endParaRPr>
          </a:p>
          <a:p>
            <a:pPr>
              <a:lnSpc>
                <a:spcPct val="100000"/>
              </a:lnSpc>
              <a:spcAft>
                <a:spcPts val="1000"/>
              </a:spcAft>
              <a:buNone/>
            </a:pPr>
            <a:r>
              <a:rPr lang="en-US" sz="1800" dirty="0">
                <a:solidFill>
                  <a:schemeClr val="tx1"/>
                </a:solidFill>
                <a:effectLst/>
                <a:latin typeface="+mn-lt"/>
                <a:ea typeface="MS Mincho" panose="02020609040205080304" pitchFamily="49" charset="-128"/>
                <a:cs typeface="Times New Roman" panose="02020603050405020304" pitchFamily="18" charset="0"/>
              </a:rPr>
              <a:t>For a client, the central question is: can a reliable risk signal lead to an appropriate action, such as a follow-up call, medication review, or care-coordination assessment? We would need clinical and operational stakeholders to define that action and validate its value.”</a:t>
            </a:r>
            <a:endParaRPr lang="en-IN" sz="1050" dirty="0">
              <a:solidFill>
                <a:srgbClr val="23303F"/>
              </a:solidFill>
              <a:effectLst/>
              <a:latin typeface="Aptos" panose="020B0004020202020204" pitchFamily="34" charset="0"/>
              <a:ea typeface="MS Mincho" panose="02020609040205080304" pitchFamily="49" charset="-128"/>
              <a:cs typeface="Times New Roman" panose="02020603050405020304" pitchFamily="18" charset="0"/>
            </a:endParaRPr>
          </a:p>
        </p:txBody>
      </p:sp>
    </p:spTree>
    <p:extLst>
      <p:ext uri="{BB962C8B-B14F-4D97-AF65-F5344CB8AC3E}">
        <p14:creationId xmlns:p14="http://schemas.microsoft.com/office/powerpoint/2010/main" val="19372928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74021D-B45D-481D-4484-FD721A131F99}"/>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B5438305-8FB3-FE81-CF5E-74BF9BFA620D}"/>
              </a:ext>
            </a:extLst>
          </p:cNvPr>
          <p:cNvSpPr txBox="1"/>
          <p:nvPr/>
        </p:nvSpPr>
        <p:spPr>
          <a:xfrm>
            <a:off x="540774" y="133995"/>
            <a:ext cx="11277600" cy="4791055"/>
          </a:xfrm>
          <a:prstGeom prst="rect">
            <a:avLst/>
          </a:prstGeom>
          <a:noFill/>
        </p:spPr>
        <p:txBody>
          <a:bodyPr wrap="square">
            <a:spAutoFit/>
          </a:bodyPr>
          <a:lstStyle/>
          <a:p>
            <a:pPr>
              <a:lnSpc>
                <a:spcPct val="100000"/>
              </a:lnSpc>
              <a:spcBef>
                <a:spcPts val="2400"/>
              </a:spcBef>
              <a:buNone/>
            </a:pPr>
            <a:r>
              <a:rPr lang="en-US" sz="1800" b="1" kern="0" dirty="0">
                <a:solidFill>
                  <a:schemeClr val="tx1"/>
                </a:solidFill>
                <a:effectLst/>
                <a:latin typeface="+mn-lt"/>
                <a:ea typeface="MS Gothic" panose="020B0609070205080204" pitchFamily="49" charset="-128"/>
                <a:cs typeface="Times New Roman" panose="02020603050405020304" pitchFamily="18" charset="0"/>
              </a:rPr>
              <a:t>Frame the care problem before choosing the model</a:t>
            </a:r>
          </a:p>
          <a:p>
            <a:pPr>
              <a:lnSpc>
                <a:spcPct val="100000"/>
              </a:lnSpc>
              <a:spcBef>
                <a:spcPts val="2400"/>
              </a:spcBef>
              <a:buNone/>
            </a:pPr>
            <a:endParaRPr lang="en-IN" sz="1800" b="1" kern="0" dirty="0">
              <a:solidFill>
                <a:schemeClr val="tx1"/>
              </a:solidFill>
              <a:effectLst/>
              <a:latin typeface="+mn-lt"/>
              <a:ea typeface="MS Gothic" panose="020B0609070205080204" pitchFamily="49" charset="-128"/>
              <a:cs typeface="Times New Roman" panose="02020603050405020304" pitchFamily="18" charset="0"/>
            </a:endParaRPr>
          </a:p>
          <a:p>
            <a:pPr>
              <a:lnSpc>
                <a:spcPct val="100000"/>
              </a:lnSpc>
              <a:spcAft>
                <a:spcPts val="1000"/>
              </a:spcAft>
              <a:buNone/>
            </a:pPr>
            <a:r>
              <a:rPr lang="en-US" sz="1800" dirty="0">
                <a:solidFill>
                  <a:schemeClr val="tx1"/>
                </a:solidFill>
                <a:effectLst/>
                <a:latin typeface="+mn-lt"/>
                <a:ea typeface="MS Mincho" panose="02020609040205080304" pitchFamily="49" charset="-128"/>
                <a:cs typeface="Times New Roman" panose="02020603050405020304" pitchFamily="18" charset="0"/>
              </a:rPr>
              <a:t>“I start with the decision, not the algorithm.</a:t>
            </a:r>
            <a:endParaRPr lang="en-IN" sz="1800" dirty="0">
              <a:solidFill>
                <a:schemeClr val="tx1"/>
              </a:solidFill>
              <a:effectLst/>
              <a:latin typeface="+mn-lt"/>
              <a:ea typeface="MS Mincho" panose="02020609040205080304" pitchFamily="49" charset="-128"/>
              <a:cs typeface="Times New Roman" panose="02020603050405020304" pitchFamily="18" charset="0"/>
            </a:endParaRPr>
          </a:p>
          <a:p>
            <a:pPr>
              <a:lnSpc>
                <a:spcPct val="100000"/>
              </a:lnSpc>
              <a:spcAft>
                <a:spcPts val="1000"/>
              </a:spcAft>
              <a:buNone/>
            </a:pPr>
            <a:r>
              <a:rPr lang="en-US" sz="1800" dirty="0">
                <a:solidFill>
                  <a:schemeClr val="tx1"/>
                </a:solidFill>
                <a:effectLst/>
                <a:latin typeface="+mn-lt"/>
                <a:ea typeface="MS Mincho" panose="02020609040205080304" pitchFamily="49" charset="-128"/>
                <a:cs typeface="Times New Roman" panose="02020603050405020304" pitchFamily="18" charset="0"/>
              </a:rPr>
              <a:t>The working problem statement is: how might we identify patients who may need additional support after discharge using patient history and discharge information?</a:t>
            </a:r>
            <a:endParaRPr lang="en-IN" sz="1800" dirty="0">
              <a:solidFill>
                <a:schemeClr val="tx1"/>
              </a:solidFill>
              <a:effectLst/>
              <a:latin typeface="+mn-lt"/>
              <a:ea typeface="MS Mincho" panose="02020609040205080304" pitchFamily="49" charset="-128"/>
              <a:cs typeface="Times New Roman" panose="02020603050405020304" pitchFamily="18" charset="0"/>
            </a:endParaRPr>
          </a:p>
          <a:p>
            <a:pPr>
              <a:lnSpc>
                <a:spcPct val="100000"/>
              </a:lnSpc>
              <a:spcAft>
                <a:spcPts val="1000"/>
              </a:spcAft>
              <a:buNone/>
            </a:pPr>
            <a:r>
              <a:rPr lang="en-US" sz="1800" dirty="0">
                <a:solidFill>
                  <a:schemeClr val="tx1"/>
                </a:solidFill>
                <a:effectLst/>
                <a:latin typeface="+mn-lt"/>
                <a:ea typeface="MS Mincho" panose="02020609040205080304" pitchFamily="49" charset="-128"/>
                <a:cs typeface="Times New Roman" panose="02020603050405020304" pitchFamily="18" charset="0"/>
              </a:rPr>
              <a:t>Before claiming this is the right use case, I would ask the care team a few questions. At what point should the prediction be made—during admission, at discharge, or after discharge? Who will use it? What intervention is available? How many patients can the team realistically follow up with? And what is the cost of a missed high-risk patient compared with an unnecessary alert?</a:t>
            </a:r>
            <a:endParaRPr lang="en-IN" sz="1800" dirty="0">
              <a:solidFill>
                <a:schemeClr val="tx1"/>
              </a:solidFill>
              <a:effectLst/>
              <a:latin typeface="+mn-lt"/>
              <a:ea typeface="MS Mincho" panose="02020609040205080304" pitchFamily="49" charset="-128"/>
              <a:cs typeface="Times New Roman" panose="02020603050405020304" pitchFamily="18" charset="0"/>
            </a:endParaRPr>
          </a:p>
          <a:p>
            <a:pPr>
              <a:lnSpc>
                <a:spcPct val="100000"/>
              </a:lnSpc>
              <a:spcAft>
                <a:spcPts val="1000"/>
              </a:spcAft>
              <a:buNone/>
            </a:pPr>
            <a:r>
              <a:rPr lang="en-US" sz="1800" dirty="0">
                <a:solidFill>
                  <a:schemeClr val="tx1"/>
                </a:solidFill>
                <a:effectLst/>
                <a:latin typeface="+mn-lt"/>
                <a:ea typeface="MS Mincho" panose="02020609040205080304" pitchFamily="49" charset="-128"/>
                <a:cs typeface="Times New Roman" panose="02020603050405020304" pitchFamily="18" charset="0"/>
              </a:rPr>
              <a:t>I would then investigate root-cause hypotheses. These might include prior admission patterns, medication complexity, unresolved clinical issues, incomplete discharge instructions, or gaps in follow-up. These are hypotheses to test, not causes established by the current dataset.</a:t>
            </a:r>
            <a:endParaRPr lang="en-IN" sz="1800" dirty="0">
              <a:solidFill>
                <a:schemeClr val="tx1"/>
              </a:solidFill>
              <a:effectLst/>
              <a:latin typeface="+mn-lt"/>
              <a:ea typeface="MS Mincho" panose="02020609040205080304" pitchFamily="49" charset="-128"/>
              <a:cs typeface="Times New Roman" panose="02020603050405020304" pitchFamily="18" charset="0"/>
            </a:endParaRPr>
          </a:p>
          <a:p>
            <a:pPr>
              <a:lnSpc>
                <a:spcPct val="100000"/>
              </a:lnSpc>
              <a:spcAft>
                <a:spcPts val="1000"/>
              </a:spcAft>
              <a:buNone/>
            </a:pPr>
            <a:r>
              <a:rPr lang="en-US" sz="1800" dirty="0">
                <a:solidFill>
                  <a:schemeClr val="tx1"/>
                </a:solidFill>
                <a:effectLst/>
                <a:latin typeface="+mn-lt"/>
                <a:ea typeface="MS Mincho" panose="02020609040205080304" pitchFamily="49" charset="-128"/>
                <a:cs typeface="Times New Roman" panose="02020603050405020304" pitchFamily="18" charset="0"/>
              </a:rPr>
              <a:t>This distinction matters because a risk model is useful only when it is connected to a real decision and an actionable care pathway. If the hospital cannot act on a flag, prediction alone may add workload without improving care.”</a:t>
            </a:r>
            <a:endParaRPr lang="en-IN" sz="1050" dirty="0">
              <a:solidFill>
                <a:srgbClr val="23303F"/>
              </a:solidFill>
              <a:effectLst/>
              <a:latin typeface="Aptos" panose="020B0004020202020204" pitchFamily="34" charset="0"/>
              <a:ea typeface="MS Mincho" panose="02020609040205080304" pitchFamily="49" charset="-128"/>
              <a:cs typeface="Times New Roman" panose="02020603050405020304" pitchFamily="18" charset="0"/>
            </a:endParaRPr>
          </a:p>
        </p:txBody>
      </p:sp>
    </p:spTree>
    <p:extLst>
      <p:ext uri="{BB962C8B-B14F-4D97-AF65-F5344CB8AC3E}">
        <p14:creationId xmlns:p14="http://schemas.microsoft.com/office/powerpoint/2010/main" val="11895842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CFA436-6342-EC6A-CB4E-36D4435D5834}"/>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742183CF-F523-805F-A045-2F98AD18F0C5}"/>
              </a:ext>
            </a:extLst>
          </p:cNvPr>
          <p:cNvSpPr txBox="1"/>
          <p:nvPr/>
        </p:nvSpPr>
        <p:spPr>
          <a:xfrm>
            <a:off x="629264" y="141681"/>
            <a:ext cx="11120284" cy="5858014"/>
          </a:xfrm>
          <a:prstGeom prst="rect">
            <a:avLst/>
          </a:prstGeom>
          <a:noFill/>
        </p:spPr>
        <p:txBody>
          <a:bodyPr wrap="square">
            <a:spAutoFit/>
          </a:bodyPr>
          <a:lstStyle/>
          <a:p>
            <a:pPr>
              <a:lnSpc>
                <a:spcPct val="100000"/>
              </a:lnSpc>
              <a:spcBef>
                <a:spcPts val="2400"/>
              </a:spcBef>
              <a:buNone/>
            </a:pPr>
            <a:r>
              <a:rPr lang="en-US" sz="1800" b="1" kern="0" dirty="0">
                <a:solidFill>
                  <a:schemeClr val="tx1"/>
                </a:solidFill>
                <a:effectLst/>
                <a:latin typeface="+mn-lt"/>
                <a:ea typeface="MS Gothic" panose="020B0609070205080204" pitchFamily="49" charset="-128"/>
                <a:cs typeface="Times New Roman" panose="02020603050405020304" pitchFamily="18" charset="0"/>
              </a:rPr>
              <a:t>Solution workflow: structured data plus discharge text</a:t>
            </a:r>
          </a:p>
          <a:p>
            <a:pPr>
              <a:lnSpc>
                <a:spcPct val="100000"/>
              </a:lnSpc>
              <a:spcBef>
                <a:spcPts val="2400"/>
              </a:spcBef>
              <a:buNone/>
            </a:pPr>
            <a:endParaRPr lang="en-IN" sz="1800" b="1" kern="0" dirty="0">
              <a:solidFill>
                <a:schemeClr val="tx1"/>
              </a:solidFill>
              <a:effectLst/>
              <a:latin typeface="+mn-lt"/>
              <a:ea typeface="MS Gothic" panose="020B0609070205080204" pitchFamily="49" charset="-128"/>
              <a:cs typeface="Times New Roman" panose="02020603050405020304" pitchFamily="18" charset="0"/>
            </a:endParaRPr>
          </a:p>
          <a:p>
            <a:pPr>
              <a:lnSpc>
                <a:spcPct val="100000"/>
              </a:lnSpc>
              <a:spcAft>
                <a:spcPts val="1000"/>
              </a:spcAft>
              <a:buNone/>
            </a:pPr>
            <a:r>
              <a:rPr lang="en-US" sz="1800" dirty="0">
                <a:solidFill>
                  <a:schemeClr val="tx1"/>
                </a:solidFill>
                <a:effectLst/>
                <a:latin typeface="+mn-lt"/>
                <a:ea typeface="MS Mincho" panose="02020609040205080304" pitchFamily="49" charset="-128"/>
                <a:cs typeface="Times New Roman" panose="02020603050405020304" pitchFamily="18" charset="0"/>
              </a:rPr>
              <a:t>“The workflow has four stages.</a:t>
            </a:r>
            <a:endParaRPr lang="en-IN" sz="1800" dirty="0">
              <a:solidFill>
                <a:schemeClr val="tx1"/>
              </a:solidFill>
              <a:effectLst/>
              <a:latin typeface="+mn-lt"/>
              <a:ea typeface="MS Mincho" panose="02020609040205080304" pitchFamily="49" charset="-128"/>
              <a:cs typeface="Times New Roman" panose="02020603050405020304" pitchFamily="18" charset="0"/>
            </a:endParaRPr>
          </a:p>
          <a:p>
            <a:pPr>
              <a:lnSpc>
                <a:spcPct val="100000"/>
              </a:lnSpc>
              <a:spcAft>
                <a:spcPts val="1000"/>
              </a:spcAft>
              <a:buNone/>
            </a:pPr>
            <a:r>
              <a:rPr lang="en-US" sz="1800" dirty="0">
                <a:solidFill>
                  <a:schemeClr val="tx1"/>
                </a:solidFill>
                <a:effectLst/>
                <a:latin typeface="+mn-lt"/>
                <a:ea typeface="MS Mincho" panose="02020609040205080304" pitchFamily="49" charset="-128"/>
                <a:cs typeface="Times New Roman" panose="02020603050405020304" pitchFamily="18" charset="0"/>
              </a:rPr>
              <a:t>First, the user supplies structured data: age, diagnosis, medication count, lab result, previous admissions, length of stay, and a discharge summary. </a:t>
            </a:r>
          </a:p>
          <a:p>
            <a:pPr>
              <a:lnSpc>
                <a:spcPct val="100000"/>
              </a:lnSpc>
              <a:spcAft>
                <a:spcPts val="1000"/>
              </a:spcAft>
              <a:buNone/>
            </a:pPr>
            <a:r>
              <a:rPr lang="en-US" sz="1800" dirty="0">
                <a:solidFill>
                  <a:schemeClr val="tx1"/>
                </a:solidFill>
                <a:effectLst/>
                <a:latin typeface="+mn-lt"/>
                <a:ea typeface="MS Mincho" panose="02020609040205080304" pitchFamily="49" charset="-128"/>
                <a:cs typeface="Times New Roman" panose="02020603050405020304" pitchFamily="18" charset="0"/>
              </a:rPr>
              <a:t>Second, feature engineering creates additional variables, such as a derived admission-risk score, medication complexity, and flags based on selected thresholds. </a:t>
            </a:r>
          </a:p>
          <a:p>
            <a:pPr>
              <a:lnSpc>
                <a:spcPct val="100000"/>
              </a:lnSpc>
              <a:spcAft>
                <a:spcPts val="1000"/>
              </a:spcAft>
              <a:buNone/>
            </a:pPr>
            <a:r>
              <a:rPr lang="en-US" sz="1800" dirty="0">
                <a:solidFill>
                  <a:schemeClr val="tx1"/>
                </a:solidFill>
                <a:effectLst/>
                <a:latin typeface="+mn-lt"/>
                <a:ea typeface="MS Mincho" panose="02020609040205080304" pitchFamily="49" charset="-128"/>
                <a:cs typeface="Times New Roman" panose="02020603050405020304" pitchFamily="18" charset="0"/>
              </a:rPr>
              <a:t>Third, the discharge summary is cleaned and converted into TF-IDF text features, which are combined with the structured features and passed to a LightGBM classifier. </a:t>
            </a:r>
          </a:p>
          <a:p>
            <a:pPr>
              <a:lnSpc>
                <a:spcPct val="100000"/>
              </a:lnSpc>
              <a:spcAft>
                <a:spcPts val="1000"/>
              </a:spcAft>
              <a:buNone/>
            </a:pPr>
            <a:r>
              <a:rPr lang="en-US" sz="1800" dirty="0">
                <a:solidFill>
                  <a:schemeClr val="tx1"/>
                </a:solidFill>
                <a:effectLst/>
                <a:latin typeface="+mn-lt"/>
                <a:ea typeface="MS Mincho" panose="02020609040205080304" pitchFamily="49" charset="-128"/>
                <a:cs typeface="Times New Roman" panose="02020603050405020304" pitchFamily="18" charset="0"/>
              </a:rPr>
              <a:t>Finally, </a:t>
            </a:r>
            <a:r>
              <a:rPr lang="en-US" sz="1800" dirty="0" err="1">
                <a:solidFill>
                  <a:schemeClr val="tx1"/>
                </a:solidFill>
                <a:effectLst/>
                <a:latin typeface="+mn-lt"/>
                <a:ea typeface="MS Mincho" panose="02020609040205080304" pitchFamily="49" charset="-128"/>
                <a:cs typeface="Times New Roman" panose="02020603050405020304" pitchFamily="18" charset="0"/>
              </a:rPr>
              <a:t>FastAPI</a:t>
            </a:r>
            <a:r>
              <a:rPr lang="en-US" sz="1800" dirty="0">
                <a:solidFill>
                  <a:schemeClr val="tx1"/>
                </a:solidFill>
                <a:effectLst/>
                <a:latin typeface="+mn-lt"/>
                <a:ea typeface="MS Mincho" panose="02020609040205080304" pitchFamily="49" charset="-128"/>
                <a:cs typeface="Times New Roman" panose="02020603050405020304" pitchFamily="18" charset="0"/>
              </a:rPr>
              <a:t> returns a prediction, a probability, and a low, medium, or high risk band for the interface.</a:t>
            </a:r>
            <a:endParaRPr lang="en-IN" sz="1800" dirty="0">
              <a:solidFill>
                <a:schemeClr val="tx1"/>
              </a:solidFill>
              <a:effectLst/>
              <a:latin typeface="+mn-lt"/>
              <a:ea typeface="MS Mincho" panose="02020609040205080304" pitchFamily="49" charset="-128"/>
              <a:cs typeface="Times New Roman" panose="02020603050405020304" pitchFamily="18" charset="0"/>
            </a:endParaRPr>
          </a:p>
          <a:p>
            <a:pPr>
              <a:lnSpc>
                <a:spcPct val="100000"/>
              </a:lnSpc>
              <a:spcAft>
                <a:spcPts val="1000"/>
              </a:spcAft>
              <a:buNone/>
            </a:pPr>
            <a:r>
              <a:rPr lang="en-US" sz="1800" dirty="0">
                <a:solidFill>
                  <a:schemeClr val="tx1"/>
                </a:solidFill>
                <a:effectLst/>
                <a:latin typeface="+mn-lt"/>
                <a:ea typeface="MS Mincho" panose="02020609040205080304" pitchFamily="49" charset="-128"/>
                <a:cs typeface="Times New Roman" panose="02020603050405020304" pitchFamily="18" charset="0"/>
              </a:rPr>
              <a:t>This is a practical example of combining tabular machine learning with NLP-derived features.</a:t>
            </a:r>
            <a:endParaRPr lang="en-IN" sz="1800" dirty="0">
              <a:solidFill>
                <a:schemeClr val="tx1"/>
              </a:solidFill>
              <a:effectLst/>
              <a:latin typeface="+mn-lt"/>
              <a:ea typeface="MS Mincho" panose="02020609040205080304" pitchFamily="49" charset="-128"/>
              <a:cs typeface="Times New Roman" panose="02020603050405020304" pitchFamily="18" charset="0"/>
            </a:endParaRPr>
          </a:p>
          <a:p>
            <a:pPr>
              <a:lnSpc>
                <a:spcPct val="100000"/>
              </a:lnSpc>
              <a:spcAft>
                <a:spcPts val="1000"/>
              </a:spcAft>
              <a:buNone/>
            </a:pPr>
            <a:r>
              <a:rPr lang="en-US" sz="1800" dirty="0">
                <a:solidFill>
                  <a:schemeClr val="tx1"/>
                </a:solidFill>
                <a:effectLst/>
                <a:latin typeface="+mn-lt"/>
                <a:ea typeface="MS Mincho" panose="02020609040205080304" pitchFamily="49" charset="-128"/>
                <a:cs typeface="Times New Roman" panose="02020603050405020304" pitchFamily="18" charset="0"/>
              </a:rPr>
              <a:t>There is an important caveat: the risk bands use fixed probability cutoffs in the current code. </a:t>
            </a:r>
          </a:p>
          <a:p>
            <a:pPr>
              <a:lnSpc>
                <a:spcPct val="100000"/>
              </a:lnSpc>
              <a:spcAft>
                <a:spcPts val="1000"/>
              </a:spcAft>
              <a:buNone/>
            </a:pPr>
            <a:endParaRPr lang="en-US" dirty="0">
              <a:ea typeface="MS Mincho" panose="02020609040205080304" pitchFamily="49" charset="-128"/>
              <a:cs typeface="Times New Roman" panose="02020603050405020304" pitchFamily="18" charset="0"/>
            </a:endParaRPr>
          </a:p>
          <a:p>
            <a:pPr>
              <a:lnSpc>
                <a:spcPct val="100000"/>
              </a:lnSpc>
              <a:spcAft>
                <a:spcPts val="1000"/>
              </a:spcAft>
              <a:buNone/>
            </a:pPr>
            <a:r>
              <a:rPr lang="en-US" sz="1800" dirty="0">
                <a:solidFill>
                  <a:schemeClr val="tx1"/>
                </a:solidFill>
                <a:effectLst/>
                <a:latin typeface="+mn-lt"/>
                <a:ea typeface="MS Mincho" panose="02020609040205080304" pitchFamily="49" charset="-128"/>
                <a:cs typeface="Times New Roman" panose="02020603050405020304" pitchFamily="18" charset="0"/>
              </a:rPr>
              <a:t>Those cutoffs have not been shown to be clinically calibrated or appropriate for a real hospital. Before use, we would need to validate the probability estimates, select thresholds with stakeholders, and define what action each risk band should trigger.”</a:t>
            </a:r>
            <a:endParaRPr lang="en-IN" sz="1050" dirty="0">
              <a:solidFill>
                <a:srgbClr val="23303F"/>
              </a:solidFill>
              <a:effectLst/>
              <a:latin typeface="Aptos" panose="020B0004020202020204" pitchFamily="34" charset="0"/>
              <a:ea typeface="MS Mincho" panose="02020609040205080304" pitchFamily="49" charset="-128"/>
              <a:cs typeface="Times New Roman" panose="02020603050405020304" pitchFamily="18" charset="0"/>
            </a:endParaRPr>
          </a:p>
        </p:txBody>
      </p:sp>
    </p:spTree>
    <p:extLst>
      <p:ext uri="{BB962C8B-B14F-4D97-AF65-F5344CB8AC3E}">
        <p14:creationId xmlns:p14="http://schemas.microsoft.com/office/powerpoint/2010/main" val="28122819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D3A97C-8625-4052-17C0-A07D2B26084D}"/>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4FDD64DA-2EF7-1A2D-DBF0-3B6EA2CC6F9B}"/>
              </a:ext>
            </a:extLst>
          </p:cNvPr>
          <p:cNvSpPr txBox="1"/>
          <p:nvPr/>
        </p:nvSpPr>
        <p:spPr>
          <a:xfrm>
            <a:off x="678425" y="0"/>
            <a:ext cx="10323871" cy="5345053"/>
          </a:xfrm>
          <a:prstGeom prst="rect">
            <a:avLst/>
          </a:prstGeom>
          <a:noFill/>
        </p:spPr>
        <p:txBody>
          <a:bodyPr wrap="square">
            <a:spAutoFit/>
          </a:bodyPr>
          <a:lstStyle/>
          <a:p>
            <a:pPr>
              <a:lnSpc>
                <a:spcPct val="100000"/>
              </a:lnSpc>
              <a:spcBef>
                <a:spcPts val="2400"/>
              </a:spcBef>
              <a:buNone/>
            </a:pPr>
            <a:r>
              <a:rPr lang="en-US" sz="1800" b="1" kern="0" dirty="0">
                <a:solidFill>
                  <a:schemeClr val="tx1"/>
                </a:solidFill>
                <a:effectLst/>
                <a:latin typeface="+mn-lt"/>
                <a:ea typeface="MS Gothic" panose="020B0609070205080204" pitchFamily="49" charset="-128"/>
                <a:cs typeface="Times New Roman" panose="02020603050405020304" pitchFamily="18" charset="0"/>
              </a:rPr>
              <a:t>Technical architecture</a:t>
            </a:r>
          </a:p>
          <a:p>
            <a:pPr>
              <a:lnSpc>
                <a:spcPct val="100000"/>
              </a:lnSpc>
              <a:spcBef>
                <a:spcPts val="2400"/>
              </a:spcBef>
              <a:buNone/>
            </a:pPr>
            <a:endParaRPr lang="en-IN" sz="1800" b="1" kern="0" dirty="0">
              <a:solidFill>
                <a:schemeClr val="tx1"/>
              </a:solidFill>
              <a:effectLst/>
              <a:latin typeface="+mn-lt"/>
              <a:ea typeface="MS Gothic" panose="020B0609070205080204" pitchFamily="49" charset="-128"/>
              <a:cs typeface="Times New Roman" panose="02020603050405020304" pitchFamily="18" charset="0"/>
            </a:endParaRPr>
          </a:p>
          <a:p>
            <a:pPr>
              <a:lnSpc>
                <a:spcPct val="100000"/>
              </a:lnSpc>
              <a:spcAft>
                <a:spcPts val="1000"/>
              </a:spcAft>
              <a:buNone/>
            </a:pPr>
            <a:r>
              <a:rPr lang="en-US" sz="1800" dirty="0">
                <a:solidFill>
                  <a:schemeClr val="tx1"/>
                </a:solidFill>
                <a:effectLst/>
                <a:latin typeface="+mn-lt"/>
                <a:ea typeface="MS Mincho" panose="02020609040205080304" pitchFamily="49" charset="-128"/>
                <a:cs typeface="Times New Roman" panose="02020603050405020304" pitchFamily="18" charset="0"/>
              </a:rPr>
              <a:t>“The project uses a modular full-stack design.</a:t>
            </a:r>
            <a:endParaRPr lang="en-IN" sz="1800" dirty="0">
              <a:solidFill>
                <a:schemeClr val="tx1"/>
              </a:solidFill>
              <a:effectLst/>
              <a:latin typeface="+mn-lt"/>
              <a:ea typeface="MS Mincho" panose="02020609040205080304" pitchFamily="49" charset="-128"/>
              <a:cs typeface="Times New Roman" panose="02020603050405020304" pitchFamily="18" charset="0"/>
            </a:endParaRPr>
          </a:p>
          <a:p>
            <a:pPr>
              <a:lnSpc>
                <a:spcPct val="100000"/>
              </a:lnSpc>
              <a:spcAft>
                <a:spcPts val="1000"/>
              </a:spcAft>
              <a:buNone/>
            </a:pPr>
            <a:r>
              <a:rPr lang="en-US" sz="1800" dirty="0">
                <a:solidFill>
                  <a:schemeClr val="tx1"/>
                </a:solidFill>
                <a:effectLst/>
                <a:latin typeface="+mn-lt"/>
                <a:ea typeface="MS Mincho" panose="02020609040205080304" pitchFamily="49" charset="-128"/>
                <a:cs typeface="Times New Roman" panose="02020603050405020304" pitchFamily="18" charset="0"/>
              </a:rPr>
              <a:t>The React and TypeScript interface captures patient inputs and displays the response. </a:t>
            </a:r>
            <a:r>
              <a:rPr lang="en-US" sz="1800" dirty="0" err="1">
                <a:solidFill>
                  <a:schemeClr val="tx1"/>
                </a:solidFill>
                <a:effectLst/>
                <a:latin typeface="+mn-lt"/>
                <a:ea typeface="MS Mincho" panose="02020609040205080304" pitchFamily="49" charset="-128"/>
                <a:cs typeface="Times New Roman" panose="02020603050405020304" pitchFamily="18" charset="0"/>
              </a:rPr>
              <a:t>FastAPI</a:t>
            </a:r>
            <a:r>
              <a:rPr lang="en-US" sz="1800" dirty="0">
                <a:solidFill>
                  <a:schemeClr val="tx1"/>
                </a:solidFill>
                <a:effectLst/>
                <a:latin typeface="+mn-lt"/>
                <a:ea typeface="MS Mincho" panose="02020609040205080304" pitchFamily="49" charset="-128"/>
                <a:cs typeface="Times New Roman" panose="02020603050405020304" pitchFamily="18" charset="0"/>
              </a:rPr>
              <a:t> exposes the prediction endpoint and validates the request schema. The router calls a service layer, which invokes the prediction implementation. The inference implementation loads the LightGBM model and the saved structured and text preprocessing artifacts. The repository also includes a </a:t>
            </a:r>
            <a:r>
              <a:rPr lang="en-US" sz="1800" dirty="0" err="1">
                <a:solidFill>
                  <a:schemeClr val="tx1"/>
                </a:solidFill>
                <a:effectLst/>
                <a:latin typeface="+mn-lt"/>
                <a:ea typeface="MS Mincho" panose="02020609040205080304" pitchFamily="49" charset="-128"/>
                <a:cs typeface="Times New Roman" panose="02020603050405020304" pitchFamily="18" charset="0"/>
              </a:rPr>
              <a:t>Streamlit</a:t>
            </a:r>
            <a:r>
              <a:rPr lang="en-US" sz="1800" dirty="0">
                <a:solidFill>
                  <a:schemeClr val="tx1"/>
                </a:solidFill>
                <a:effectLst/>
                <a:latin typeface="+mn-lt"/>
                <a:ea typeface="MS Mincho" panose="02020609040205080304" pitchFamily="49" charset="-128"/>
                <a:cs typeface="Times New Roman" panose="02020603050405020304" pitchFamily="18" charset="0"/>
              </a:rPr>
              <a:t> interface, evaluation reports, and </a:t>
            </a:r>
            <a:r>
              <a:rPr lang="en-US" sz="1800" dirty="0" err="1">
                <a:solidFill>
                  <a:schemeClr val="tx1"/>
                </a:solidFill>
                <a:effectLst/>
                <a:latin typeface="+mn-lt"/>
                <a:ea typeface="MS Mincho" panose="02020609040205080304" pitchFamily="49" charset="-128"/>
                <a:cs typeface="Times New Roman" panose="02020603050405020304" pitchFamily="18" charset="0"/>
              </a:rPr>
              <a:t>MLflow</a:t>
            </a:r>
            <a:r>
              <a:rPr lang="en-US" sz="1800" dirty="0">
                <a:solidFill>
                  <a:schemeClr val="tx1"/>
                </a:solidFill>
                <a:effectLst/>
                <a:latin typeface="+mn-lt"/>
                <a:ea typeface="MS Mincho" panose="02020609040205080304" pitchFamily="49" charset="-128"/>
                <a:cs typeface="Times New Roman" panose="02020603050405020304" pitchFamily="18" charset="0"/>
              </a:rPr>
              <a:t>-related experiment tracking.</a:t>
            </a:r>
            <a:endParaRPr lang="en-IN" sz="1800" dirty="0">
              <a:solidFill>
                <a:schemeClr val="tx1"/>
              </a:solidFill>
              <a:effectLst/>
              <a:latin typeface="+mn-lt"/>
              <a:ea typeface="MS Mincho" panose="02020609040205080304" pitchFamily="49" charset="-128"/>
              <a:cs typeface="Times New Roman" panose="02020603050405020304" pitchFamily="18" charset="0"/>
            </a:endParaRPr>
          </a:p>
          <a:p>
            <a:pPr>
              <a:lnSpc>
                <a:spcPct val="100000"/>
              </a:lnSpc>
              <a:spcAft>
                <a:spcPts val="1000"/>
              </a:spcAft>
              <a:buNone/>
            </a:pPr>
            <a:r>
              <a:rPr lang="en-US" sz="1800" dirty="0">
                <a:solidFill>
                  <a:schemeClr val="tx1"/>
                </a:solidFill>
                <a:effectLst/>
                <a:latin typeface="+mn-lt"/>
                <a:ea typeface="MS Mincho" panose="02020609040205080304" pitchFamily="49" charset="-128"/>
                <a:cs typeface="Times New Roman" panose="02020603050405020304" pitchFamily="18" charset="0"/>
              </a:rPr>
              <a:t>I value this separation because it makes the API, user interface, and model logic easier to evolve independently.</a:t>
            </a:r>
            <a:endParaRPr lang="en-IN" sz="1800" dirty="0">
              <a:solidFill>
                <a:schemeClr val="tx1"/>
              </a:solidFill>
              <a:effectLst/>
              <a:latin typeface="+mn-lt"/>
              <a:ea typeface="MS Mincho" panose="02020609040205080304" pitchFamily="49" charset="-128"/>
              <a:cs typeface="Times New Roman" panose="02020603050405020304" pitchFamily="18" charset="0"/>
            </a:endParaRPr>
          </a:p>
          <a:p>
            <a:pPr>
              <a:lnSpc>
                <a:spcPct val="100000"/>
              </a:lnSpc>
              <a:spcAft>
                <a:spcPts val="1000"/>
              </a:spcAft>
              <a:buNone/>
            </a:pPr>
            <a:r>
              <a:rPr lang="en-US" sz="1800" dirty="0">
                <a:solidFill>
                  <a:schemeClr val="tx1"/>
                </a:solidFill>
                <a:effectLst/>
                <a:latin typeface="+mn-lt"/>
                <a:ea typeface="MS Mincho" panose="02020609040205080304" pitchFamily="49" charset="-128"/>
                <a:cs typeface="Times New Roman" panose="02020603050405020304" pitchFamily="18" charset="0"/>
              </a:rPr>
              <a:t>The review also surfaced engineering questions that should be addressed before deployment. Several model and data paths are relative to the working directory, so execution context can affect reproducibility. We should test that training and inference use exactly the same feature transformations and artifact versions, add automated API and pipeline tests, and improve configuration, authentication, monitoring, and deployment controls.</a:t>
            </a:r>
            <a:endParaRPr lang="en-IN" sz="1800" dirty="0">
              <a:solidFill>
                <a:schemeClr val="tx1"/>
              </a:solidFill>
              <a:effectLst/>
              <a:latin typeface="+mn-lt"/>
              <a:ea typeface="MS Mincho" panose="02020609040205080304" pitchFamily="49" charset="-128"/>
              <a:cs typeface="Times New Roman" panose="02020603050405020304" pitchFamily="18" charset="0"/>
            </a:endParaRPr>
          </a:p>
          <a:p>
            <a:pPr>
              <a:lnSpc>
                <a:spcPct val="100000"/>
              </a:lnSpc>
              <a:spcAft>
                <a:spcPts val="1000"/>
              </a:spcAft>
              <a:buNone/>
            </a:pPr>
            <a:r>
              <a:rPr lang="en-US" sz="1800" dirty="0">
                <a:solidFill>
                  <a:schemeClr val="tx1"/>
                </a:solidFill>
                <a:effectLst/>
                <a:latin typeface="+mn-lt"/>
                <a:ea typeface="MS Mincho" panose="02020609040205080304" pitchFamily="49" charset="-128"/>
                <a:cs typeface="Times New Roman" panose="02020603050405020304" pitchFamily="18" charset="0"/>
              </a:rPr>
              <a:t>The architecture is a good prototype foundation; it is not evidence by itself of production readiness.”</a:t>
            </a:r>
            <a:endParaRPr lang="en-IN" sz="1050" dirty="0">
              <a:solidFill>
                <a:srgbClr val="23303F"/>
              </a:solidFill>
              <a:effectLst/>
              <a:latin typeface="Aptos" panose="020B0004020202020204" pitchFamily="34" charset="0"/>
              <a:ea typeface="MS Mincho" panose="02020609040205080304" pitchFamily="49" charset="-128"/>
              <a:cs typeface="Times New Roman" panose="02020603050405020304" pitchFamily="18" charset="0"/>
            </a:endParaRPr>
          </a:p>
        </p:txBody>
      </p:sp>
    </p:spTree>
    <p:extLst>
      <p:ext uri="{BB962C8B-B14F-4D97-AF65-F5344CB8AC3E}">
        <p14:creationId xmlns:p14="http://schemas.microsoft.com/office/powerpoint/2010/main" val="21425395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A0CF16-9CCD-56B0-D37A-BCB4F56DF636}"/>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968C79D4-C44B-D8F1-75BE-16C091032399}"/>
              </a:ext>
            </a:extLst>
          </p:cNvPr>
          <p:cNvSpPr txBox="1"/>
          <p:nvPr/>
        </p:nvSpPr>
        <p:spPr>
          <a:xfrm>
            <a:off x="540773" y="0"/>
            <a:ext cx="11090787" cy="4939814"/>
          </a:xfrm>
          <a:prstGeom prst="rect">
            <a:avLst/>
          </a:prstGeom>
          <a:noFill/>
        </p:spPr>
        <p:txBody>
          <a:bodyPr wrap="square">
            <a:spAutoFit/>
          </a:bodyPr>
          <a:lstStyle/>
          <a:p>
            <a:pPr>
              <a:lnSpc>
                <a:spcPct val="100000"/>
              </a:lnSpc>
              <a:spcBef>
                <a:spcPts val="2400"/>
              </a:spcBef>
              <a:buNone/>
            </a:pPr>
            <a:r>
              <a:rPr lang="en-US" sz="1800" b="1" kern="0" dirty="0">
                <a:solidFill>
                  <a:schemeClr val="tx1"/>
                </a:solidFill>
                <a:effectLst/>
                <a:latin typeface="+mn-lt"/>
                <a:ea typeface="MS Gothic" panose="020B0609070205080204" pitchFamily="49" charset="-128"/>
                <a:cs typeface="Times New Roman" panose="02020603050405020304" pitchFamily="18" charset="0"/>
              </a:rPr>
              <a:t>Model strategy and feature engineering</a:t>
            </a:r>
          </a:p>
          <a:p>
            <a:pPr>
              <a:lnSpc>
                <a:spcPct val="100000"/>
              </a:lnSpc>
              <a:spcBef>
                <a:spcPts val="2400"/>
              </a:spcBef>
              <a:buNone/>
            </a:pPr>
            <a:endParaRPr lang="en-IN" sz="1800" b="1" kern="0" dirty="0">
              <a:solidFill>
                <a:schemeClr val="tx1"/>
              </a:solidFill>
              <a:effectLst/>
              <a:latin typeface="+mn-lt"/>
              <a:ea typeface="MS Gothic" panose="020B0609070205080204" pitchFamily="49" charset="-128"/>
              <a:cs typeface="Times New Roman" panose="02020603050405020304" pitchFamily="18" charset="0"/>
            </a:endParaRPr>
          </a:p>
          <a:p>
            <a:pPr>
              <a:lnSpc>
                <a:spcPct val="100000"/>
              </a:lnSpc>
              <a:spcAft>
                <a:spcPts val="1000"/>
              </a:spcAft>
              <a:buNone/>
            </a:pPr>
            <a:r>
              <a:rPr lang="en-US" sz="1800" dirty="0">
                <a:solidFill>
                  <a:schemeClr val="tx1"/>
                </a:solidFill>
                <a:effectLst/>
                <a:latin typeface="+mn-lt"/>
                <a:ea typeface="MS Mincho" panose="02020609040205080304" pitchFamily="49" charset="-128"/>
                <a:cs typeface="Times New Roman" panose="02020603050405020304" pitchFamily="18" charset="0"/>
              </a:rPr>
              <a:t>“The current classifier is LightGBM. The feature pipeline processes numerical inputs with imputation and scaling, encodes categorical information, and transforms the discharge summary into TF-IDF features. It also creates a few engineered variables, including prior-admission and length-of-stay combinations, medication complexity, a chronic-condition flag, a lab-risk flag, and an age-based flag.</a:t>
            </a:r>
            <a:endParaRPr lang="en-IN" sz="1800" dirty="0">
              <a:solidFill>
                <a:schemeClr val="tx1"/>
              </a:solidFill>
              <a:effectLst/>
              <a:latin typeface="+mn-lt"/>
              <a:ea typeface="MS Mincho" panose="02020609040205080304" pitchFamily="49" charset="-128"/>
              <a:cs typeface="Times New Roman" panose="02020603050405020304" pitchFamily="18" charset="0"/>
            </a:endParaRPr>
          </a:p>
          <a:p>
            <a:pPr>
              <a:lnSpc>
                <a:spcPct val="100000"/>
              </a:lnSpc>
              <a:spcAft>
                <a:spcPts val="1000"/>
              </a:spcAft>
              <a:buNone/>
            </a:pPr>
            <a:r>
              <a:rPr lang="en-US" sz="1800" dirty="0">
                <a:solidFill>
                  <a:schemeClr val="tx1"/>
                </a:solidFill>
                <a:effectLst/>
                <a:latin typeface="+mn-lt"/>
                <a:ea typeface="MS Mincho" panose="02020609040205080304" pitchFamily="49" charset="-128"/>
                <a:cs typeface="Times New Roman" panose="02020603050405020304" pitchFamily="18" charset="0"/>
              </a:rPr>
              <a:t>These features are plausible candidates for investigation, but their clinical validity should not be assumed. For example, a single lab threshold may be inappropriate without knowing the lab test, units, and patient context.</a:t>
            </a:r>
            <a:endParaRPr lang="en-IN" sz="1800" dirty="0">
              <a:solidFill>
                <a:schemeClr val="tx1"/>
              </a:solidFill>
              <a:effectLst/>
              <a:latin typeface="+mn-lt"/>
              <a:ea typeface="MS Mincho" panose="02020609040205080304" pitchFamily="49" charset="-128"/>
              <a:cs typeface="Times New Roman" panose="02020603050405020304" pitchFamily="18" charset="0"/>
            </a:endParaRPr>
          </a:p>
          <a:p>
            <a:pPr>
              <a:lnSpc>
                <a:spcPct val="100000"/>
              </a:lnSpc>
              <a:spcAft>
                <a:spcPts val="1000"/>
              </a:spcAft>
              <a:buNone/>
            </a:pPr>
            <a:r>
              <a:rPr lang="en-US" sz="1800" dirty="0">
                <a:solidFill>
                  <a:schemeClr val="tx1"/>
                </a:solidFill>
                <a:effectLst/>
                <a:latin typeface="+mn-lt"/>
                <a:ea typeface="MS Mincho" panose="02020609040205080304" pitchFamily="49" charset="-128"/>
                <a:cs typeface="Times New Roman" panose="02020603050405020304" pitchFamily="18" charset="0"/>
              </a:rPr>
              <a:t>The next step is to compare LightGBM against simple baselines and alternative models. We should also confirm that every learned preprocessing step is fitted only on the training partition. In the current training code, feature preparation is performed before the train/test split, which can allow preprocessing information from the held-out rows to influence the feature representation. I would correct this by fitting the entire transformation pipeline only within the training data, then applying it unchanged to validation and test data.</a:t>
            </a:r>
            <a:endParaRPr lang="en-IN" sz="1800" dirty="0">
              <a:solidFill>
                <a:schemeClr val="tx1"/>
              </a:solidFill>
              <a:effectLst/>
              <a:latin typeface="+mn-lt"/>
              <a:ea typeface="MS Mincho" panose="02020609040205080304" pitchFamily="49" charset="-128"/>
              <a:cs typeface="Times New Roman" panose="02020603050405020304" pitchFamily="18" charset="0"/>
            </a:endParaRPr>
          </a:p>
          <a:p>
            <a:pPr>
              <a:lnSpc>
                <a:spcPct val="100000"/>
              </a:lnSpc>
              <a:spcAft>
                <a:spcPts val="1000"/>
              </a:spcAft>
              <a:buNone/>
            </a:pPr>
            <a:r>
              <a:rPr lang="en-US" sz="1800" dirty="0">
                <a:solidFill>
                  <a:schemeClr val="tx1"/>
                </a:solidFill>
                <a:effectLst/>
                <a:latin typeface="+mn-lt"/>
                <a:ea typeface="MS Mincho" panose="02020609040205080304" pitchFamily="49" charset="-128"/>
                <a:cs typeface="Times New Roman" panose="02020603050405020304" pitchFamily="18" charset="0"/>
              </a:rPr>
              <a:t>The best model is the one that generalizes and supports a meaningful decision—not necessarily the most complex one.”</a:t>
            </a:r>
            <a:endParaRPr lang="en-IN" sz="1050" dirty="0">
              <a:solidFill>
                <a:srgbClr val="23303F"/>
              </a:solidFill>
              <a:effectLst/>
              <a:latin typeface="Aptos" panose="020B0004020202020204" pitchFamily="34" charset="0"/>
              <a:ea typeface="MS Mincho" panose="02020609040205080304" pitchFamily="49" charset="-128"/>
              <a:cs typeface="Times New Roman" panose="02020603050405020304" pitchFamily="18" charset="0"/>
            </a:endParaRPr>
          </a:p>
        </p:txBody>
      </p:sp>
    </p:spTree>
    <p:extLst>
      <p:ext uri="{BB962C8B-B14F-4D97-AF65-F5344CB8AC3E}">
        <p14:creationId xmlns:p14="http://schemas.microsoft.com/office/powerpoint/2010/main" val="42817087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D361C1-2F5D-9091-60CA-82DD489B0D7B}"/>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AD9300F5-4166-6F2D-B82B-F8EF93ADE1BA}"/>
              </a:ext>
            </a:extLst>
          </p:cNvPr>
          <p:cNvSpPr txBox="1"/>
          <p:nvPr/>
        </p:nvSpPr>
        <p:spPr>
          <a:xfrm>
            <a:off x="560438" y="0"/>
            <a:ext cx="10353367" cy="6027291"/>
          </a:xfrm>
          <a:prstGeom prst="rect">
            <a:avLst/>
          </a:prstGeom>
          <a:noFill/>
        </p:spPr>
        <p:txBody>
          <a:bodyPr wrap="square">
            <a:spAutoFit/>
          </a:bodyPr>
          <a:lstStyle/>
          <a:p>
            <a:pPr>
              <a:lnSpc>
                <a:spcPct val="100000"/>
              </a:lnSpc>
              <a:spcBef>
                <a:spcPts val="2400"/>
              </a:spcBef>
              <a:buNone/>
            </a:pPr>
            <a:r>
              <a:rPr lang="en-US" sz="1800" b="1" kern="0" dirty="0">
                <a:solidFill>
                  <a:schemeClr val="tx1"/>
                </a:solidFill>
                <a:effectLst/>
                <a:latin typeface="+mn-lt"/>
                <a:ea typeface="MS Gothic" panose="020B0609070205080204" pitchFamily="49" charset="-128"/>
                <a:cs typeface="Times New Roman" panose="02020603050405020304" pitchFamily="18" charset="0"/>
              </a:rPr>
              <a:t>Data and evaluation: what the evidence says</a:t>
            </a:r>
          </a:p>
          <a:p>
            <a:pPr>
              <a:lnSpc>
                <a:spcPct val="100000"/>
              </a:lnSpc>
              <a:spcBef>
                <a:spcPts val="2400"/>
              </a:spcBef>
              <a:buNone/>
            </a:pPr>
            <a:endParaRPr lang="en-IN" sz="1800" b="1" kern="0" dirty="0">
              <a:solidFill>
                <a:schemeClr val="tx1"/>
              </a:solidFill>
              <a:effectLst/>
              <a:latin typeface="+mn-lt"/>
              <a:ea typeface="MS Gothic" panose="020B0609070205080204" pitchFamily="49" charset="-128"/>
              <a:cs typeface="Times New Roman" panose="02020603050405020304" pitchFamily="18" charset="0"/>
            </a:endParaRPr>
          </a:p>
          <a:p>
            <a:pPr>
              <a:lnSpc>
                <a:spcPct val="100000"/>
              </a:lnSpc>
              <a:spcAft>
                <a:spcPts val="1000"/>
              </a:spcAft>
              <a:buNone/>
            </a:pPr>
            <a:r>
              <a:rPr lang="en-US" sz="1800" dirty="0">
                <a:solidFill>
                  <a:schemeClr val="tx1"/>
                </a:solidFill>
                <a:effectLst/>
                <a:latin typeface="+mn-lt"/>
                <a:ea typeface="MS Mincho" panose="02020609040205080304" pitchFamily="49" charset="-128"/>
                <a:cs typeface="Times New Roman" panose="02020603050405020304" pitchFamily="18" charset="0"/>
              </a:rPr>
              <a:t>“This is the most important evidence slide.</a:t>
            </a:r>
            <a:endParaRPr lang="en-IN" sz="1800" dirty="0">
              <a:solidFill>
                <a:schemeClr val="tx1"/>
              </a:solidFill>
              <a:effectLst/>
              <a:latin typeface="+mn-lt"/>
              <a:ea typeface="MS Mincho" panose="02020609040205080304" pitchFamily="49" charset="-128"/>
              <a:cs typeface="Times New Roman" panose="02020603050405020304" pitchFamily="18" charset="0"/>
            </a:endParaRPr>
          </a:p>
          <a:p>
            <a:pPr>
              <a:lnSpc>
                <a:spcPct val="100000"/>
              </a:lnSpc>
              <a:spcAft>
                <a:spcPts val="1000"/>
              </a:spcAft>
              <a:buNone/>
            </a:pPr>
            <a:r>
              <a:rPr lang="en-US" sz="1800" dirty="0">
                <a:solidFill>
                  <a:schemeClr val="tx1"/>
                </a:solidFill>
                <a:effectLst/>
                <a:latin typeface="+mn-lt"/>
                <a:ea typeface="MS Mincho" panose="02020609040205080304" pitchFamily="49" charset="-128"/>
                <a:cs typeface="Times New Roman" panose="02020603050405020304" pitchFamily="18" charset="0"/>
              </a:rPr>
              <a:t>The training CSV contains 150 rows, with 108 positive readmission labels and 42 negative labels. The separate test CSV contains 130 rows. The repository’s saved classification report also has support of 130, and reports approximately 63.8 percent accuracy.</a:t>
            </a:r>
            <a:endParaRPr lang="en-IN" sz="1800" dirty="0">
              <a:solidFill>
                <a:schemeClr val="tx1"/>
              </a:solidFill>
              <a:effectLst/>
              <a:latin typeface="+mn-lt"/>
              <a:ea typeface="MS Mincho" panose="02020609040205080304" pitchFamily="49" charset="-128"/>
              <a:cs typeface="Times New Roman" panose="02020603050405020304" pitchFamily="18" charset="0"/>
            </a:endParaRPr>
          </a:p>
          <a:p>
            <a:pPr>
              <a:lnSpc>
                <a:spcPct val="100000"/>
              </a:lnSpc>
              <a:spcAft>
                <a:spcPts val="1000"/>
              </a:spcAft>
              <a:buNone/>
            </a:pPr>
            <a:r>
              <a:rPr lang="en-US" sz="1800" dirty="0">
                <a:solidFill>
                  <a:schemeClr val="tx1"/>
                </a:solidFill>
                <a:effectLst/>
                <a:latin typeface="+mn-lt"/>
                <a:ea typeface="MS Mincho" panose="02020609040205080304" pitchFamily="49" charset="-128"/>
                <a:cs typeface="Times New Roman" panose="02020603050405020304" pitchFamily="18" charset="0"/>
              </a:rPr>
              <a:t>However, the overall number hides a substantial difference between classes. For class 1, the report gives recall of about 0.830. For class 0, recall is only about 0.238. The macro F1 score is approximately 0.527.</a:t>
            </a:r>
            <a:endParaRPr lang="en-IN" sz="1800" dirty="0">
              <a:solidFill>
                <a:schemeClr val="tx1"/>
              </a:solidFill>
              <a:effectLst/>
              <a:latin typeface="+mn-lt"/>
              <a:ea typeface="MS Mincho" panose="02020609040205080304" pitchFamily="49" charset="-128"/>
              <a:cs typeface="Times New Roman" panose="02020603050405020304" pitchFamily="18" charset="0"/>
            </a:endParaRPr>
          </a:p>
          <a:p>
            <a:pPr>
              <a:lnSpc>
                <a:spcPct val="100000"/>
              </a:lnSpc>
              <a:spcAft>
                <a:spcPts val="1000"/>
              </a:spcAft>
              <a:buNone/>
            </a:pPr>
            <a:r>
              <a:rPr lang="en-US" sz="1800" dirty="0">
                <a:solidFill>
                  <a:schemeClr val="tx1"/>
                </a:solidFill>
                <a:effectLst/>
                <a:latin typeface="+mn-lt"/>
                <a:ea typeface="MS Mincho" panose="02020609040205080304" pitchFamily="49" charset="-128"/>
                <a:cs typeface="Times New Roman" panose="02020603050405020304" pitchFamily="18" charset="0"/>
              </a:rPr>
              <a:t>In practical terms, the model identifies a larger proportion of class 1 cases in this report, but misses many class 0 cases. We must first confirm how class labels map to the intended clinical meaning and verify the evaluation workflow before drawing a strong conclusion.</a:t>
            </a:r>
            <a:endParaRPr lang="en-IN" sz="1800" dirty="0">
              <a:solidFill>
                <a:schemeClr val="tx1"/>
              </a:solidFill>
              <a:effectLst/>
              <a:latin typeface="+mn-lt"/>
              <a:ea typeface="MS Mincho" panose="02020609040205080304" pitchFamily="49" charset="-128"/>
              <a:cs typeface="Times New Roman" panose="02020603050405020304" pitchFamily="18" charset="0"/>
            </a:endParaRPr>
          </a:p>
          <a:p>
            <a:pPr>
              <a:lnSpc>
                <a:spcPct val="100000"/>
              </a:lnSpc>
              <a:spcAft>
                <a:spcPts val="1000"/>
              </a:spcAft>
              <a:buNone/>
            </a:pPr>
            <a:r>
              <a:rPr lang="en-US" sz="1800" dirty="0">
                <a:solidFill>
                  <a:schemeClr val="tx1"/>
                </a:solidFill>
                <a:effectLst/>
                <a:latin typeface="+mn-lt"/>
                <a:ea typeface="MS Mincho" panose="02020609040205080304" pitchFamily="49" charset="-128"/>
                <a:cs typeface="Times New Roman" panose="02020603050405020304" pitchFamily="18" charset="0"/>
              </a:rPr>
              <a:t>There is another issue: the training script shown in the repository creates its own split, while the evaluation script loads a separate test CSV. The saved report’s 130-row support matches the separate test file, but the exact artifact provenance and preprocessing lifecycle should be reproduced before we call it a clean independent evaluation.</a:t>
            </a:r>
            <a:endParaRPr lang="en-IN" sz="1800" dirty="0">
              <a:solidFill>
                <a:schemeClr val="tx1"/>
              </a:solidFill>
              <a:effectLst/>
              <a:latin typeface="+mn-lt"/>
              <a:ea typeface="MS Mincho" panose="02020609040205080304" pitchFamily="49" charset="-128"/>
              <a:cs typeface="Times New Roman" panose="02020603050405020304" pitchFamily="18" charset="0"/>
            </a:endParaRPr>
          </a:p>
          <a:p>
            <a:pPr>
              <a:lnSpc>
                <a:spcPct val="100000"/>
              </a:lnSpc>
              <a:spcAft>
                <a:spcPts val="1000"/>
              </a:spcAft>
              <a:buNone/>
            </a:pPr>
            <a:r>
              <a:rPr lang="en-US" sz="1800" dirty="0">
                <a:solidFill>
                  <a:schemeClr val="tx1"/>
                </a:solidFill>
                <a:effectLst/>
                <a:latin typeface="+mn-lt"/>
                <a:ea typeface="MS Mincho" panose="02020609040205080304" pitchFamily="49" charset="-128"/>
                <a:cs typeface="Times New Roman" panose="02020603050405020304" pitchFamily="18" charset="0"/>
              </a:rPr>
              <a:t>My conclusion is not that the model is ready. It is that the current evidence identifies a clear validation priority: reproduce the evaluation, compare baselines, investigate class-specific errors, and confirm data provenance and representativeness.”</a:t>
            </a:r>
            <a:endParaRPr lang="en-IN" sz="1050" dirty="0">
              <a:solidFill>
                <a:srgbClr val="23303F"/>
              </a:solidFill>
              <a:effectLst/>
              <a:latin typeface="Aptos" panose="020B0004020202020204" pitchFamily="34" charset="0"/>
              <a:ea typeface="MS Mincho" panose="02020609040205080304" pitchFamily="49" charset="-128"/>
              <a:cs typeface="Times New Roman" panose="02020603050405020304" pitchFamily="18" charset="0"/>
            </a:endParaRPr>
          </a:p>
        </p:txBody>
      </p:sp>
    </p:spTree>
    <p:extLst>
      <p:ext uri="{BB962C8B-B14F-4D97-AF65-F5344CB8AC3E}">
        <p14:creationId xmlns:p14="http://schemas.microsoft.com/office/powerpoint/2010/main" val="27974396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2A9F70-6518-9EE0-42B4-3D21C6BB08B8}"/>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2BEE24F1-20C5-63EC-47C3-44768BD3EB67}"/>
              </a:ext>
            </a:extLst>
          </p:cNvPr>
          <p:cNvSpPr txBox="1"/>
          <p:nvPr/>
        </p:nvSpPr>
        <p:spPr>
          <a:xfrm>
            <a:off x="796412" y="122017"/>
            <a:ext cx="10628671" cy="4385816"/>
          </a:xfrm>
          <a:prstGeom prst="rect">
            <a:avLst/>
          </a:prstGeom>
          <a:noFill/>
        </p:spPr>
        <p:txBody>
          <a:bodyPr wrap="square">
            <a:spAutoFit/>
          </a:bodyPr>
          <a:lstStyle/>
          <a:p>
            <a:pPr>
              <a:lnSpc>
                <a:spcPct val="100000"/>
              </a:lnSpc>
              <a:spcBef>
                <a:spcPts val="2400"/>
              </a:spcBef>
              <a:buNone/>
            </a:pPr>
            <a:r>
              <a:rPr lang="en-US" sz="1800" b="1" kern="0" dirty="0">
                <a:solidFill>
                  <a:schemeClr val="tx1"/>
                </a:solidFill>
                <a:effectLst/>
                <a:latin typeface="+mn-lt"/>
                <a:ea typeface="MS Gothic" panose="020B0609070205080204" pitchFamily="49" charset="-128"/>
                <a:cs typeface="Times New Roman" panose="02020603050405020304" pitchFamily="18" charset="0"/>
              </a:rPr>
              <a:t>My differentiator: think in workflows, evidence and trade-offs</a:t>
            </a:r>
          </a:p>
          <a:p>
            <a:pPr>
              <a:lnSpc>
                <a:spcPct val="100000"/>
              </a:lnSpc>
              <a:spcBef>
                <a:spcPts val="2400"/>
              </a:spcBef>
              <a:buNone/>
            </a:pPr>
            <a:endParaRPr lang="en-IN" sz="1800" b="1" kern="0" dirty="0">
              <a:solidFill>
                <a:schemeClr val="tx1"/>
              </a:solidFill>
              <a:effectLst/>
              <a:latin typeface="+mn-lt"/>
              <a:ea typeface="MS Gothic" panose="020B0609070205080204" pitchFamily="49" charset="-128"/>
              <a:cs typeface="Times New Roman" panose="02020603050405020304" pitchFamily="18" charset="0"/>
            </a:endParaRPr>
          </a:p>
          <a:p>
            <a:pPr>
              <a:lnSpc>
                <a:spcPct val="100000"/>
              </a:lnSpc>
              <a:spcAft>
                <a:spcPts val="1000"/>
              </a:spcAft>
              <a:buNone/>
            </a:pPr>
            <a:r>
              <a:rPr lang="en-US" sz="1800" dirty="0">
                <a:solidFill>
                  <a:schemeClr val="tx1"/>
                </a:solidFill>
                <a:effectLst/>
                <a:latin typeface="+mn-lt"/>
                <a:ea typeface="MS Mincho" panose="02020609040205080304" pitchFamily="49" charset="-128"/>
                <a:cs typeface="Times New Roman" panose="02020603050405020304" pitchFamily="18" charset="0"/>
              </a:rPr>
              <a:t>“This slide summarizes how I approach AI problem solving.</a:t>
            </a:r>
            <a:endParaRPr lang="en-IN" sz="1800" dirty="0">
              <a:solidFill>
                <a:schemeClr val="tx1"/>
              </a:solidFill>
              <a:effectLst/>
              <a:latin typeface="+mn-lt"/>
              <a:ea typeface="MS Mincho" panose="02020609040205080304" pitchFamily="49" charset="-128"/>
              <a:cs typeface="Times New Roman" panose="02020603050405020304" pitchFamily="18" charset="0"/>
            </a:endParaRPr>
          </a:p>
          <a:p>
            <a:pPr>
              <a:lnSpc>
                <a:spcPct val="100000"/>
              </a:lnSpc>
              <a:spcAft>
                <a:spcPts val="1000"/>
              </a:spcAft>
              <a:buNone/>
            </a:pPr>
            <a:r>
              <a:rPr lang="en-US" sz="1800" dirty="0">
                <a:solidFill>
                  <a:schemeClr val="tx1"/>
                </a:solidFill>
                <a:effectLst/>
                <a:latin typeface="+mn-lt"/>
                <a:ea typeface="MS Mincho" panose="02020609040205080304" pitchFamily="49" charset="-128"/>
                <a:cs typeface="Times New Roman" panose="02020603050405020304" pitchFamily="18" charset="0"/>
              </a:rPr>
              <a:t>First, define the user, the decision, and what success means. Second, diagnose root causes and test assumptions about the data and workflow. Third, challenge the default choice of AI by comparing rules, process changes, simpler models, and more complex approaches. Fourth, prove value through a pre-defined evaluation plan. Fifth, build in privacy, fairness, human oversight, and monitoring. Finally, scale only when evidence and operating readiness support it.</a:t>
            </a:r>
            <a:endParaRPr lang="en-IN" sz="1800" dirty="0">
              <a:solidFill>
                <a:schemeClr val="tx1"/>
              </a:solidFill>
              <a:effectLst/>
              <a:latin typeface="+mn-lt"/>
              <a:ea typeface="MS Mincho" panose="02020609040205080304" pitchFamily="49" charset="-128"/>
              <a:cs typeface="Times New Roman" panose="02020603050405020304" pitchFamily="18" charset="0"/>
            </a:endParaRPr>
          </a:p>
          <a:p>
            <a:pPr>
              <a:lnSpc>
                <a:spcPct val="100000"/>
              </a:lnSpc>
              <a:spcAft>
                <a:spcPts val="1000"/>
              </a:spcAft>
              <a:buNone/>
            </a:pPr>
            <a:r>
              <a:rPr lang="en-US" sz="1800" dirty="0">
                <a:solidFill>
                  <a:schemeClr val="tx1"/>
                </a:solidFill>
                <a:effectLst/>
                <a:latin typeface="+mn-lt"/>
                <a:ea typeface="MS Mincho" panose="02020609040205080304" pitchFamily="49" charset="-128"/>
                <a:cs typeface="Times New Roman" panose="02020603050405020304" pitchFamily="18" charset="0"/>
              </a:rPr>
              <a:t>For readmission prediction, I would not stop at asking, ‘Can we predict a readmission?’ I would ask, ‘Can we identify a group for whom an available intervention improves follow-up, and can we do so reliably and fairly?’</a:t>
            </a:r>
            <a:endParaRPr lang="en-IN" sz="1800" dirty="0">
              <a:solidFill>
                <a:schemeClr val="tx1"/>
              </a:solidFill>
              <a:effectLst/>
              <a:latin typeface="+mn-lt"/>
              <a:ea typeface="MS Mincho" panose="02020609040205080304" pitchFamily="49" charset="-128"/>
              <a:cs typeface="Times New Roman" panose="02020603050405020304" pitchFamily="18" charset="0"/>
            </a:endParaRPr>
          </a:p>
          <a:p>
            <a:pPr>
              <a:lnSpc>
                <a:spcPct val="100000"/>
              </a:lnSpc>
              <a:spcAft>
                <a:spcPts val="1000"/>
              </a:spcAft>
              <a:buNone/>
            </a:pPr>
            <a:r>
              <a:rPr lang="en-US" sz="1800" dirty="0">
                <a:solidFill>
                  <a:schemeClr val="tx1"/>
                </a:solidFill>
                <a:effectLst/>
                <a:latin typeface="+mn-lt"/>
                <a:ea typeface="MS Mincho" panose="02020609040205080304" pitchFamily="49" charset="-128"/>
                <a:cs typeface="Times New Roman" panose="02020603050405020304" pitchFamily="18" charset="0"/>
              </a:rPr>
              <a:t>That reframes the project from a model-building exercise into a decision-support initiative. It is the way I aim to contribute as a thinker and AI consultant: challenge assumptions, understand trade-offs, and link engineering decisions to a meaningful outcome.”</a:t>
            </a:r>
            <a:endParaRPr lang="en-IN" sz="1050" dirty="0">
              <a:solidFill>
                <a:srgbClr val="23303F"/>
              </a:solidFill>
              <a:effectLst/>
              <a:latin typeface="Aptos" panose="020B0004020202020204" pitchFamily="34" charset="0"/>
              <a:ea typeface="MS Mincho" panose="02020609040205080304" pitchFamily="49" charset="-128"/>
              <a:cs typeface="Times New Roman" panose="02020603050405020304" pitchFamily="18" charset="0"/>
            </a:endParaRPr>
          </a:p>
        </p:txBody>
      </p:sp>
    </p:spTree>
    <p:extLst>
      <p:ext uri="{BB962C8B-B14F-4D97-AF65-F5344CB8AC3E}">
        <p14:creationId xmlns:p14="http://schemas.microsoft.com/office/powerpoint/2010/main" val="39932206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27DA03-C002-E50E-FC02-48DE4E4B9DA1}"/>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D2E04518-6AFB-6FF9-0981-C8CE5EE1E263}"/>
              </a:ext>
            </a:extLst>
          </p:cNvPr>
          <p:cNvSpPr txBox="1"/>
          <p:nvPr/>
        </p:nvSpPr>
        <p:spPr>
          <a:xfrm>
            <a:off x="353962" y="143456"/>
            <a:ext cx="10776154" cy="4791055"/>
          </a:xfrm>
          <a:prstGeom prst="rect">
            <a:avLst/>
          </a:prstGeom>
          <a:noFill/>
        </p:spPr>
        <p:txBody>
          <a:bodyPr wrap="square">
            <a:spAutoFit/>
          </a:bodyPr>
          <a:lstStyle/>
          <a:p>
            <a:pPr>
              <a:lnSpc>
                <a:spcPct val="100000"/>
              </a:lnSpc>
              <a:spcBef>
                <a:spcPts val="2400"/>
              </a:spcBef>
              <a:buNone/>
            </a:pPr>
            <a:r>
              <a:rPr lang="en-US" sz="1800" b="1" kern="0" dirty="0">
                <a:solidFill>
                  <a:schemeClr val="tx1"/>
                </a:solidFill>
                <a:effectLst/>
                <a:latin typeface="+mn-lt"/>
                <a:ea typeface="MS Gothic" panose="020B0609070205080204" pitchFamily="49" charset="-128"/>
                <a:cs typeface="Times New Roman" panose="02020603050405020304" pitchFamily="18" charset="0"/>
              </a:rPr>
              <a:t>Measure predictive quality and operational usefulness separately</a:t>
            </a:r>
          </a:p>
          <a:p>
            <a:pPr>
              <a:lnSpc>
                <a:spcPct val="100000"/>
              </a:lnSpc>
              <a:spcBef>
                <a:spcPts val="2400"/>
              </a:spcBef>
              <a:buNone/>
            </a:pPr>
            <a:endParaRPr lang="en-IN" sz="1800" b="1" kern="0" dirty="0">
              <a:solidFill>
                <a:schemeClr val="tx1"/>
              </a:solidFill>
              <a:effectLst/>
              <a:latin typeface="+mn-lt"/>
              <a:ea typeface="MS Gothic" panose="020B0609070205080204" pitchFamily="49" charset="-128"/>
              <a:cs typeface="Times New Roman" panose="02020603050405020304" pitchFamily="18" charset="0"/>
            </a:endParaRPr>
          </a:p>
          <a:p>
            <a:pPr>
              <a:lnSpc>
                <a:spcPct val="100000"/>
              </a:lnSpc>
              <a:spcAft>
                <a:spcPts val="1000"/>
              </a:spcAft>
              <a:buNone/>
            </a:pPr>
            <a:r>
              <a:rPr lang="en-US" sz="1800" dirty="0">
                <a:solidFill>
                  <a:schemeClr val="tx1"/>
                </a:solidFill>
                <a:effectLst/>
                <a:latin typeface="+mn-lt"/>
                <a:ea typeface="MS Mincho" panose="02020609040205080304" pitchFamily="49" charset="-128"/>
                <a:cs typeface="Times New Roman" panose="02020603050405020304" pitchFamily="18" charset="0"/>
              </a:rPr>
              <a:t>“I would evaluate the project in three layers.</a:t>
            </a:r>
            <a:endParaRPr lang="en-IN" sz="1800" dirty="0">
              <a:solidFill>
                <a:schemeClr val="tx1"/>
              </a:solidFill>
              <a:effectLst/>
              <a:latin typeface="+mn-lt"/>
              <a:ea typeface="MS Mincho" panose="02020609040205080304" pitchFamily="49" charset="-128"/>
              <a:cs typeface="Times New Roman" panose="02020603050405020304" pitchFamily="18" charset="0"/>
            </a:endParaRPr>
          </a:p>
          <a:p>
            <a:pPr>
              <a:lnSpc>
                <a:spcPct val="100000"/>
              </a:lnSpc>
              <a:spcAft>
                <a:spcPts val="1000"/>
              </a:spcAft>
              <a:buNone/>
            </a:pPr>
            <a:r>
              <a:rPr lang="en-US" sz="1800" dirty="0">
                <a:solidFill>
                  <a:schemeClr val="tx1"/>
                </a:solidFill>
                <a:effectLst/>
                <a:latin typeface="+mn-lt"/>
                <a:ea typeface="MS Mincho" panose="02020609040205080304" pitchFamily="49" charset="-128"/>
                <a:cs typeface="Times New Roman" panose="02020603050405020304" pitchFamily="18" charset="0"/>
              </a:rPr>
              <a:t>At the model layer, report precision, recall, F1 by class, macro F1, balanced accuracy, and a confusion matrix. Because the classes are imbalanced, overall accuracy alone is insufficient.</a:t>
            </a:r>
            <a:endParaRPr lang="en-IN" sz="1800" dirty="0">
              <a:solidFill>
                <a:schemeClr val="tx1"/>
              </a:solidFill>
              <a:effectLst/>
              <a:latin typeface="+mn-lt"/>
              <a:ea typeface="MS Mincho" panose="02020609040205080304" pitchFamily="49" charset="-128"/>
              <a:cs typeface="Times New Roman" panose="02020603050405020304" pitchFamily="18" charset="0"/>
            </a:endParaRPr>
          </a:p>
          <a:p>
            <a:pPr>
              <a:lnSpc>
                <a:spcPct val="100000"/>
              </a:lnSpc>
              <a:spcAft>
                <a:spcPts val="1000"/>
              </a:spcAft>
              <a:buNone/>
            </a:pPr>
            <a:r>
              <a:rPr lang="en-US" sz="1800" dirty="0">
                <a:solidFill>
                  <a:schemeClr val="tx1"/>
                </a:solidFill>
                <a:effectLst/>
                <a:latin typeface="+mn-lt"/>
                <a:ea typeface="MS Mincho" panose="02020609040205080304" pitchFamily="49" charset="-128"/>
                <a:cs typeface="Times New Roman" panose="02020603050405020304" pitchFamily="18" charset="0"/>
              </a:rPr>
              <a:t>At the probability layer, evaluate calibration. If the system says a group of patients has a certain predicted risk, the observed outcome rate should be consistent with that estimate before we treat it as a useful probability. The thresholds for low, medium, and high risk should be selected with clinical stakeholders and available follow-up capacity in mind.</a:t>
            </a:r>
            <a:endParaRPr lang="en-IN" sz="1800" dirty="0">
              <a:solidFill>
                <a:schemeClr val="tx1"/>
              </a:solidFill>
              <a:effectLst/>
              <a:latin typeface="+mn-lt"/>
              <a:ea typeface="MS Mincho" panose="02020609040205080304" pitchFamily="49" charset="-128"/>
              <a:cs typeface="Times New Roman" panose="02020603050405020304" pitchFamily="18" charset="0"/>
            </a:endParaRPr>
          </a:p>
          <a:p>
            <a:pPr>
              <a:lnSpc>
                <a:spcPct val="100000"/>
              </a:lnSpc>
              <a:spcAft>
                <a:spcPts val="1000"/>
              </a:spcAft>
              <a:buNone/>
            </a:pPr>
            <a:r>
              <a:rPr lang="en-US" sz="1800" dirty="0">
                <a:solidFill>
                  <a:schemeClr val="tx1"/>
                </a:solidFill>
                <a:effectLst/>
                <a:latin typeface="+mn-lt"/>
                <a:ea typeface="MS Mincho" panose="02020609040205080304" pitchFamily="49" charset="-128"/>
                <a:cs typeface="Times New Roman" panose="02020603050405020304" pitchFamily="18" charset="0"/>
              </a:rPr>
              <a:t>At the workflow layer, evaluate whether the flag changes care appropriately. Depending on the intended intervention, measures could include successful follow-up, time to follow-up, clinician acceptance, alert burden, and outcomes over an appropriate period. These measures need a baseline and a sound evaluation design.</a:t>
            </a:r>
            <a:endParaRPr lang="en-IN" sz="1800" dirty="0">
              <a:solidFill>
                <a:schemeClr val="tx1"/>
              </a:solidFill>
              <a:effectLst/>
              <a:latin typeface="+mn-lt"/>
              <a:ea typeface="MS Mincho" panose="02020609040205080304" pitchFamily="49" charset="-128"/>
              <a:cs typeface="Times New Roman" panose="02020603050405020304" pitchFamily="18" charset="0"/>
            </a:endParaRPr>
          </a:p>
          <a:p>
            <a:pPr>
              <a:lnSpc>
                <a:spcPct val="100000"/>
              </a:lnSpc>
              <a:spcAft>
                <a:spcPts val="1000"/>
              </a:spcAft>
              <a:buNone/>
            </a:pPr>
            <a:r>
              <a:rPr lang="en-US" sz="1800" dirty="0">
                <a:solidFill>
                  <a:schemeClr val="tx1"/>
                </a:solidFill>
                <a:effectLst/>
                <a:latin typeface="+mn-lt"/>
                <a:ea typeface="MS Mincho" panose="02020609040205080304" pitchFamily="49" charset="-128"/>
                <a:cs typeface="Times New Roman" panose="02020603050405020304" pitchFamily="18" charset="0"/>
              </a:rPr>
              <a:t>I would define acceptance thresholds before seeing the final results. I would not claim a reduction in readmissions or cost savings from this prototype; those are outcomes to investigate in a controlled pilot.”</a:t>
            </a:r>
            <a:endParaRPr lang="en-IN" sz="1050" dirty="0">
              <a:solidFill>
                <a:srgbClr val="23303F"/>
              </a:solidFill>
              <a:effectLst/>
              <a:latin typeface="Aptos" panose="020B0004020202020204" pitchFamily="34" charset="0"/>
              <a:ea typeface="MS Mincho" panose="02020609040205080304" pitchFamily="49" charset="-128"/>
              <a:cs typeface="Times New Roman" panose="02020603050405020304" pitchFamily="18" charset="0"/>
            </a:endParaRPr>
          </a:p>
        </p:txBody>
      </p:sp>
    </p:spTree>
    <p:extLst>
      <p:ext uri="{BB962C8B-B14F-4D97-AF65-F5344CB8AC3E}">
        <p14:creationId xmlns:p14="http://schemas.microsoft.com/office/powerpoint/2010/main" val="13262229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D1E3E1-1D9D-00B1-57D7-E4B27CACBDE4}"/>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F0897218-9B3C-557B-6FF6-F0249488491D}"/>
              </a:ext>
            </a:extLst>
          </p:cNvPr>
          <p:cNvSpPr txBox="1"/>
          <p:nvPr/>
        </p:nvSpPr>
        <p:spPr>
          <a:xfrm>
            <a:off x="176980" y="98220"/>
            <a:ext cx="11484078" cy="4514056"/>
          </a:xfrm>
          <a:prstGeom prst="rect">
            <a:avLst/>
          </a:prstGeom>
          <a:noFill/>
        </p:spPr>
        <p:txBody>
          <a:bodyPr wrap="square">
            <a:spAutoFit/>
          </a:bodyPr>
          <a:lstStyle/>
          <a:p>
            <a:pPr>
              <a:lnSpc>
                <a:spcPct val="100000"/>
              </a:lnSpc>
              <a:spcBef>
                <a:spcPts val="2400"/>
              </a:spcBef>
              <a:buNone/>
            </a:pPr>
            <a:r>
              <a:rPr lang="en-US" sz="1800" b="1" kern="0" dirty="0">
                <a:solidFill>
                  <a:schemeClr val="tx1"/>
                </a:solidFill>
                <a:effectLst/>
                <a:latin typeface="+mn-lt"/>
                <a:ea typeface="MS Gothic" panose="020B0609070205080204" pitchFamily="49" charset="-128"/>
                <a:cs typeface="Times New Roman" panose="02020603050405020304" pitchFamily="18" charset="0"/>
              </a:rPr>
              <a:t>Responsible AI: safe and actionable care</a:t>
            </a:r>
          </a:p>
          <a:p>
            <a:pPr>
              <a:lnSpc>
                <a:spcPct val="100000"/>
              </a:lnSpc>
              <a:spcBef>
                <a:spcPts val="2400"/>
              </a:spcBef>
              <a:buNone/>
            </a:pPr>
            <a:endParaRPr lang="en-IN" sz="1800" b="1" kern="0" dirty="0">
              <a:solidFill>
                <a:schemeClr val="tx1"/>
              </a:solidFill>
              <a:effectLst/>
              <a:latin typeface="+mn-lt"/>
              <a:ea typeface="MS Gothic" panose="020B0609070205080204" pitchFamily="49" charset="-128"/>
              <a:cs typeface="Times New Roman" panose="02020603050405020304" pitchFamily="18" charset="0"/>
            </a:endParaRPr>
          </a:p>
          <a:p>
            <a:pPr>
              <a:lnSpc>
                <a:spcPct val="100000"/>
              </a:lnSpc>
              <a:spcAft>
                <a:spcPts val="1000"/>
              </a:spcAft>
              <a:buNone/>
            </a:pPr>
            <a:r>
              <a:rPr lang="en-US" sz="1800" dirty="0">
                <a:solidFill>
                  <a:schemeClr val="tx1"/>
                </a:solidFill>
                <a:effectLst/>
                <a:latin typeface="+mn-lt"/>
                <a:ea typeface="MS Mincho" panose="02020609040205080304" pitchFamily="49" charset="-128"/>
                <a:cs typeface="Times New Roman" panose="02020603050405020304" pitchFamily="18" charset="0"/>
              </a:rPr>
              <a:t>“A readmission risk score can influence how care teams prioritize their time, so safety and governance are essential.</a:t>
            </a:r>
            <a:endParaRPr lang="en-IN" sz="1800" dirty="0">
              <a:solidFill>
                <a:schemeClr val="tx1"/>
              </a:solidFill>
              <a:effectLst/>
              <a:latin typeface="+mn-lt"/>
              <a:ea typeface="MS Mincho" panose="02020609040205080304" pitchFamily="49" charset="-128"/>
              <a:cs typeface="Times New Roman" panose="02020603050405020304" pitchFamily="18" charset="0"/>
            </a:endParaRPr>
          </a:p>
          <a:p>
            <a:pPr>
              <a:lnSpc>
                <a:spcPct val="100000"/>
              </a:lnSpc>
              <a:spcAft>
                <a:spcPts val="1000"/>
              </a:spcAft>
              <a:buNone/>
            </a:pPr>
            <a:r>
              <a:rPr lang="en-US" sz="1800" dirty="0">
                <a:solidFill>
                  <a:schemeClr val="tx1"/>
                </a:solidFill>
                <a:effectLst/>
                <a:latin typeface="+mn-lt"/>
                <a:ea typeface="MS Mincho" panose="02020609040205080304" pitchFamily="49" charset="-128"/>
                <a:cs typeface="Times New Roman" panose="02020603050405020304" pitchFamily="18" charset="0"/>
              </a:rPr>
              <a:t>We need to define the intended population, prediction horizon, point in the care pathway, and responsible user. A high-risk flag should prompt an appropriate human assessment, not automatically dictate discharge, treatment, or access to services.</a:t>
            </a:r>
            <a:endParaRPr lang="en-IN" sz="1800" dirty="0">
              <a:solidFill>
                <a:schemeClr val="tx1"/>
              </a:solidFill>
              <a:effectLst/>
              <a:latin typeface="+mn-lt"/>
              <a:ea typeface="MS Mincho" panose="02020609040205080304" pitchFamily="49" charset="-128"/>
              <a:cs typeface="Times New Roman" panose="02020603050405020304" pitchFamily="18" charset="0"/>
            </a:endParaRPr>
          </a:p>
          <a:p>
            <a:pPr>
              <a:lnSpc>
                <a:spcPct val="100000"/>
              </a:lnSpc>
              <a:spcAft>
                <a:spcPts val="1000"/>
              </a:spcAft>
              <a:buNone/>
            </a:pPr>
            <a:r>
              <a:rPr lang="en-US" sz="1800" dirty="0">
                <a:solidFill>
                  <a:schemeClr val="tx1"/>
                </a:solidFill>
                <a:effectLst/>
                <a:latin typeface="+mn-lt"/>
                <a:ea typeface="MS Mincho" panose="02020609040205080304" pitchFamily="49" charset="-128"/>
                <a:cs typeface="Times New Roman" panose="02020603050405020304" pitchFamily="18" charset="0"/>
              </a:rPr>
              <a:t>We should test performance across relevant patient subgroups and investigate whether the model behaves differently because of data quality or representation. We also need to protect patient information, control access, and avoid putting sensitive clinical details into logs unnecessarily.</a:t>
            </a:r>
            <a:endParaRPr lang="en-IN" sz="1800" dirty="0">
              <a:solidFill>
                <a:schemeClr val="tx1"/>
              </a:solidFill>
              <a:effectLst/>
              <a:latin typeface="+mn-lt"/>
              <a:ea typeface="MS Mincho" panose="02020609040205080304" pitchFamily="49" charset="-128"/>
              <a:cs typeface="Times New Roman" panose="02020603050405020304" pitchFamily="18" charset="0"/>
            </a:endParaRPr>
          </a:p>
          <a:p>
            <a:pPr>
              <a:lnSpc>
                <a:spcPct val="100000"/>
              </a:lnSpc>
              <a:spcAft>
                <a:spcPts val="1000"/>
              </a:spcAft>
              <a:buNone/>
            </a:pPr>
            <a:r>
              <a:rPr lang="en-US" sz="1800" dirty="0">
                <a:solidFill>
                  <a:schemeClr val="tx1"/>
                </a:solidFill>
                <a:effectLst/>
                <a:latin typeface="+mn-lt"/>
                <a:ea typeface="MS Mincho" panose="02020609040205080304" pitchFamily="49" charset="-128"/>
                <a:cs typeface="Times New Roman" panose="02020603050405020304" pitchFamily="18" charset="0"/>
              </a:rPr>
              <a:t>The model must handle missing inputs and unfamiliar cases safely. After deployment, monitoring should track changes in input data, model performance, alert volume, and downstream workflow effects.</a:t>
            </a:r>
            <a:endParaRPr lang="en-IN" sz="1800" dirty="0">
              <a:solidFill>
                <a:schemeClr val="tx1"/>
              </a:solidFill>
              <a:effectLst/>
              <a:latin typeface="+mn-lt"/>
              <a:ea typeface="MS Mincho" panose="02020609040205080304" pitchFamily="49" charset="-128"/>
              <a:cs typeface="Times New Roman" panose="02020603050405020304" pitchFamily="18" charset="0"/>
            </a:endParaRPr>
          </a:p>
          <a:p>
            <a:pPr>
              <a:lnSpc>
                <a:spcPct val="100000"/>
              </a:lnSpc>
              <a:spcAft>
                <a:spcPts val="1000"/>
              </a:spcAft>
              <a:buNone/>
            </a:pPr>
            <a:r>
              <a:rPr lang="en-US" sz="1800" dirty="0">
                <a:solidFill>
                  <a:schemeClr val="tx1"/>
                </a:solidFill>
                <a:effectLst/>
                <a:latin typeface="+mn-lt"/>
                <a:ea typeface="MS Mincho" panose="02020609040205080304" pitchFamily="49" charset="-128"/>
                <a:cs typeface="Times New Roman" panose="02020603050405020304" pitchFamily="18" charset="0"/>
              </a:rPr>
              <a:t>The current project is a research or educational proof of concept. Clinical validity, regulatory readiness, and suitability for real patient-care decisions have not been established. That boundary is important to state clearly to any client.”</a:t>
            </a:r>
            <a:endParaRPr lang="en-IN" sz="1050" dirty="0">
              <a:solidFill>
                <a:srgbClr val="23303F"/>
              </a:solidFill>
              <a:effectLst/>
              <a:latin typeface="Aptos" panose="020B0004020202020204" pitchFamily="34" charset="0"/>
              <a:ea typeface="MS Mincho" panose="02020609040205080304" pitchFamily="49" charset="-128"/>
              <a:cs typeface="Times New Roman" panose="02020603050405020304" pitchFamily="18" charset="0"/>
            </a:endParaRPr>
          </a:p>
        </p:txBody>
      </p:sp>
    </p:spTree>
    <p:extLst>
      <p:ext uri="{BB962C8B-B14F-4D97-AF65-F5344CB8AC3E}">
        <p14:creationId xmlns:p14="http://schemas.microsoft.com/office/powerpoint/2010/main" val="181630379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C0F8DB-06AF-4387-4F27-3D152C68185C}"/>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B81AD7D9-F769-00FB-7807-0EF5F32F94A4}"/>
              </a:ext>
            </a:extLst>
          </p:cNvPr>
          <p:cNvSpPr txBox="1"/>
          <p:nvPr/>
        </p:nvSpPr>
        <p:spPr>
          <a:xfrm>
            <a:off x="226141" y="151514"/>
            <a:ext cx="11090787" cy="4385816"/>
          </a:xfrm>
          <a:prstGeom prst="rect">
            <a:avLst/>
          </a:prstGeom>
          <a:noFill/>
        </p:spPr>
        <p:txBody>
          <a:bodyPr wrap="square">
            <a:spAutoFit/>
          </a:bodyPr>
          <a:lstStyle/>
          <a:p>
            <a:pPr>
              <a:lnSpc>
                <a:spcPct val="100000"/>
              </a:lnSpc>
              <a:spcBef>
                <a:spcPts val="2400"/>
              </a:spcBef>
              <a:buNone/>
            </a:pPr>
            <a:r>
              <a:rPr lang="en-US" sz="1800" b="1" kern="0" dirty="0">
                <a:solidFill>
                  <a:schemeClr val="tx1"/>
                </a:solidFill>
                <a:effectLst/>
                <a:latin typeface="+mn-lt"/>
                <a:ea typeface="MS Gothic" panose="020B0609070205080204" pitchFamily="49" charset="-128"/>
                <a:cs typeface="Times New Roman" panose="02020603050405020304" pitchFamily="18" charset="0"/>
              </a:rPr>
              <a:t>A gated roadmap toward a controlled pilot</a:t>
            </a:r>
          </a:p>
          <a:p>
            <a:pPr>
              <a:lnSpc>
                <a:spcPct val="100000"/>
              </a:lnSpc>
              <a:spcBef>
                <a:spcPts val="2400"/>
              </a:spcBef>
              <a:buNone/>
            </a:pPr>
            <a:endParaRPr lang="en-IN" sz="1800" b="1" kern="0" dirty="0">
              <a:solidFill>
                <a:schemeClr val="tx1"/>
              </a:solidFill>
              <a:effectLst/>
              <a:latin typeface="+mn-lt"/>
              <a:ea typeface="MS Gothic" panose="020B0609070205080204" pitchFamily="49" charset="-128"/>
              <a:cs typeface="Times New Roman" panose="02020603050405020304" pitchFamily="18" charset="0"/>
            </a:endParaRPr>
          </a:p>
          <a:p>
            <a:pPr>
              <a:lnSpc>
                <a:spcPct val="100000"/>
              </a:lnSpc>
              <a:spcAft>
                <a:spcPts val="1000"/>
              </a:spcAft>
              <a:buNone/>
            </a:pPr>
            <a:r>
              <a:rPr lang="en-US" sz="1800" dirty="0">
                <a:solidFill>
                  <a:schemeClr val="tx1"/>
                </a:solidFill>
                <a:effectLst/>
                <a:latin typeface="+mn-lt"/>
                <a:ea typeface="MS Mincho" panose="02020609040205080304" pitchFamily="49" charset="-128"/>
                <a:cs typeface="Times New Roman" panose="02020603050405020304" pitchFamily="18" charset="0"/>
              </a:rPr>
              <a:t>“I propose four gated phases.</a:t>
            </a:r>
            <a:endParaRPr lang="en-IN" sz="1800" dirty="0">
              <a:solidFill>
                <a:schemeClr val="tx1"/>
              </a:solidFill>
              <a:effectLst/>
              <a:latin typeface="+mn-lt"/>
              <a:ea typeface="MS Mincho" panose="02020609040205080304" pitchFamily="49" charset="-128"/>
              <a:cs typeface="Times New Roman" panose="02020603050405020304" pitchFamily="18" charset="0"/>
            </a:endParaRPr>
          </a:p>
          <a:p>
            <a:pPr>
              <a:lnSpc>
                <a:spcPct val="100000"/>
              </a:lnSpc>
              <a:spcAft>
                <a:spcPts val="1000"/>
              </a:spcAft>
              <a:buNone/>
            </a:pPr>
            <a:r>
              <a:rPr lang="en-US" sz="1800" dirty="0">
                <a:solidFill>
                  <a:schemeClr val="tx1"/>
                </a:solidFill>
                <a:effectLst/>
                <a:latin typeface="+mn-lt"/>
                <a:ea typeface="MS Mincho" panose="02020609040205080304" pitchFamily="49" charset="-128"/>
                <a:cs typeface="Times New Roman" panose="02020603050405020304" pitchFamily="18" charset="0"/>
              </a:rPr>
              <a:t>Phase one is data and pipeline trust: verify data provenance, label definitions, patient-to-record matching, feature engineering, and the preprocessing lifecycle. Phase two is model validation: reproduce the saved metrics, compare simple baselines, examine calibration, analyze missed cases, and evaluate relevant subgroups. Phase three is engineering hardening: add tests, reliable configuration, API security, monitoring, and model versioning. Phase four is a controlled pilot designed with the care team, with a defined intervention and agreed outcome measures.</a:t>
            </a:r>
            <a:endParaRPr lang="en-IN" sz="1800" dirty="0">
              <a:solidFill>
                <a:schemeClr val="tx1"/>
              </a:solidFill>
              <a:effectLst/>
              <a:latin typeface="+mn-lt"/>
              <a:ea typeface="MS Mincho" panose="02020609040205080304" pitchFamily="49" charset="-128"/>
              <a:cs typeface="Times New Roman" panose="02020603050405020304" pitchFamily="18" charset="0"/>
            </a:endParaRPr>
          </a:p>
          <a:p>
            <a:pPr>
              <a:lnSpc>
                <a:spcPct val="100000"/>
              </a:lnSpc>
              <a:spcAft>
                <a:spcPts val="1000"/>
              </a:spcAft>
              <a:buNone/>
            </a:pPr>
            <a:r>
              <a:rPr lang="en-US" sz="1800" dirty="0">
                <a:solidFill>
                  <a:schemeClr val="tx1"/>
                </a:solidFill>
                <a:effectLst/>
                <a:latin typeface="+mn-lt"/>
                <a:ea typeface="MS Mincho" panose="02020609040205080304" pitchFamily="49" charset="-128"/>
                <a:cs typeface="Times New Roman" panose="02020603050405020304" pitchFamily="18" charset="0"/>
              </a:rPr>
              <a:t>The sequence is deliberately gated. If the data cannot support the intended use, we should stop and improve the data or reconsider the problem. If a simpler model performs comparably, we should prefer the simpler solution. If the prediction does not change a useful action, the workflow may need redesign.</a:t>
            </a:r>
            <a:endParaRPr lang="en-IN" sz="1800" dirty="0">
              <a:solidFill>
                <a:schemeClr val="tx1"/>
              </a:solidFill>
              <a:effectLst/>
              <a:latin typeface="+mn-lt"/>
              <a:ea typeface="MS Mincho" panose="02020609040205080304" pitchFamily="49" charset="-128"/>
              <a:cs typeface="Times New Roman" panose="02020603050405020304" pitchFamily="18" charset="0"/>
            </a:endParaRPr>
          </a:p>
          <a:p>
            <a:pPr>
              <a:lnSpc>
                <a:spcPct val="100000"/>
              </a:lnSpc>
              <a:spcAft>
                <a:spcPts val="1000"/>
              </a:spcAft>
              <a:buNone/>
            </a:pPr>
            <a:r>
              <a:rPr lang="en-US" sz="1800" dirty="0">
                <a:solidFill>
                  <a:schemeClr val="tx1"/>
                </a:solidFill>
                <a:effectLst/>
                <a:latin typeface="+mn-lt"/>
                <a:ea typeface="MS Mincho" panose="02020609040205080304" pitchFamily="49" charset="-128"/>
                <a:cs typeface="Times New Roman" panose="02020603050405020304" pitchFamily="18" charset="0"/>
              </a:rPr>
              <a:t>The business goal is not to deploy AI at any cost. It is to determine whether a reliable and operationally feasible intervention can improve care coordination enough to justify the effort.”</a:t>
            </a:r>
            <a:endParaRPr lang="en-IN" sz="1050" dirty="0">
              <a:solidFill>
                <a:srgbClr val="23303F"/>
              </a:solidFill>
              <a:effectLst/>
              <a:latin typeface="Aptos" panose="020B0004020202020204" pitchFamily="34" charset="0"/>
              <a:ea typeface="MS Mincho" panose="02020609040205080304" pitchFamily="49" charset="-128"/>
              <a:cs typeface="Times New Roman" panose="02020603050405020304" pitchFamily="18" charset="0"/>
            </a:endParaRPr>
          </a:p>
        </p:txBody>
      </p:sp>
    </p:spTree>
    <p:extLst>
      <p:ext uri="{BB962C8B-B14F-4D97-AF65-F5344CB8AC3E}">
        <p14:creationId xmlns:p14="http://schemas.microsoft.com/office/powerpoint/2010/main" val="39508703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2BB2BA-99EE-473D-4733-379F636A718F}"/>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37E32944-CAB5-E80D-3864-941E51B113F7}"/>
              </a:ext>
            </a:extLst>
          </p:cNvPr>
          <p:cNvSpPr txBox="1"/>
          <p:nvPr/>
        </p:nvSpPr>
        <p:spPr>
          <a:xfrm>
            <a:off x="481780" y="108053"/>
            <a:ext cx="10785987" cy="5068054"/>
          </a:xfrm>
          <a:prstGeom prst="rect">
            <a:avLst/>
          </a:prstGeom>
          <a:noFill/>
        </p:spPr>
        <p:txBody>
          <a:bodyPr wrap="square">
            <a:spAutoFit/>
          </a:bodyPr>
          <a:lstStyle/>
          <a:p>
            <a:pPr>
              <a:lnSpc>
                <a:spcPct val="100000"/>
              </a:lnSpc>
              <a:spcBef>
                <a:spcPts val="2400"/>
              </a:spcBef>
              <a:buNone/>
            </a:pPr>
            <a:r>
              <a:rPr lang="en-US" sz="1800" b="1" kern="0" dirty="0">
                <a:solidFill>
                  <a:schemeClr val="tx1"/>
                </a:solidFill>
                <a:effectLst/>
                <a:latin typeface="+mn-lt"/>
                <a:ea typeface="MS Gothic" panose="020B0609070205080204" pitchFamily="49" charset="-128"/>
                <a:cs typeface="Times New Roman" panose="02020603050405020304" pitchFamily="18" charset="0"/>
              </a:rPr>
              <a:t>Closing: validate the decision before scaling the prediction</a:t>
            </a:r>
          </a:p>
          <a:p>
            <a:pPr>
              <a:lnSpc>
                <a:spcPct val="100000"/>
              </a:lnSpc>
              <a:spcBef>
                <a:spcPts val="2400"/>
              </a:spcBef>
              <a:buNone/>
            </a:pPr>
            <a:endParaRPr lang="en-IN" sz="1800" b="1" kern="0" dirty="0">
              <a:solidFill>
                <a:schemeClr val="tx1"/>
              </a:solidFill>
              <a:effectLst/>
              <a:latin typeface="+mn-lt"/>
              <a:ea typeface="MS Gothic" panose="020B0609070205080204" pitchFamily="49" charset="-128"/>
              <a:cs typeface="Times New Roman" panose="02020603050405020304" pitchFamily="18" charset="0"/>
            </a:endParaRPr>
          </a:p>
          <a:p>
            <a:pPr>
              <a:lnSpc>
                <a:spcPct val="100000"/>
              </a:lnSpc>
              <a:spcAft>
                <a:spcPts val="1000"/>
              </a:spcAft>
              <a:buNone/>
            </a:pPr>
            <a:r>
              <a:rPr lang="en-US" sz="1800" dirty="0">
                <a:solidFill>
                  <a:schemeClr val="tx1"/>
                </a:solidFill>
                <a:effectLst/>
                <a:latin typeface="+mn-lt"/>
                <a:ea typeface="MS Mincho" panose="02020609040205080304" pitchFamily="49" charset="-128"/>
                <a:cs typeface="Times New Roman" panose="02020603050405020304" pitchFamily="18" charset="0"/>
              </a:rPr>
              <a:t>“To conclude, this project demonstrates an end-to-end healthcare ML foundation: structured feature engineering, NLP-based text features, a LightGBM classifier, a </a:t>
            </a:r>
            <a:r>
              <a:rPr lang="en-US" sz="1800" dirty="0" err="1">
                <a:solidFill>
                  <a:schemeClr val="tx1"/>
                </a:solidFill>
                <a:effectLst/>
                <a:latin typeface="+mn-lt"/>
                <a:ea typeface="MS Mincho" panose="02020609040205080304" pitchFamily="49" charset="-128"/>
                <a:cs typeface="Times New Roman" panose="02020603050405020304" pitchFamily="18" charset="0"/>
              </a:rPr>
              <a:t>FastAPI</a:t>
            </a:r>
            <a:r>
              <a:rPr lang="en-US" sz="1800" dirty="0">
                <a:solidFill>
                  <a:schemeClr val="tx1"/>
                </a:solidFill>
                <a:effectLst/>
                <a:latin typeface="+mn-lt"/>
                <a:ea typeface="MS Mincho" panose="02020609040205080304" pitchFamily="49" charset="-128"/>
                <a:cs typeface="Times New Roman" panose="02020603050405020304" pitchFamily="18" charset="0"/>
              </a:rPr>
              <a:t> service, React and </a:t>
            </a:r>
            <a:r>
              <a:rPr lang="en-US" sz="1800" dirty="0" err="1">
                <a:solidFill>
                  <a:schemeClr val="tx1"/>
                </a:solidFill>
                <a:effectLst/>
                <a:latin typeface="+mn-lt"/>
                <a:ea typeface="MS Mincho" panose="02020609040205080304" pitchFamily="49" charset="-128"/>
                <a:cs typeface="Times New Roman" panose="02020603050405020304" pitchFamily="18" charset="0"/>
              </a:rPr>
              <a:t>Streamlit</a:t>
            </a:r>
            <a:r>
              <a:rPr lang="en-US" sz="1800" dirty="0">
                <a:solidFill>
                  <a:schemeClr val="tx1"/>
                </a:solidFill>
                <a:effectLst/>
                <a:latin typeface="+mn-lt"/>
                <a:ea typeface="MS Mincho" panose="02020609040205080304" pitchFamily="49" charset="-128"/>
                <a:cs typeface="Times New Roman" panose="02020603050405020304" pitchFamily="18" charset="0"/>
              </a:rPr>
              <a:t> interfaces, and evaluation artifacts.</a:t>
            </a:r>
            <a:endParaRPr lang="en-IN" sz="1800" dirty="0">
              <a:solidFill>
                <a:schemeClr val="tx1"/>
              </a:solidFill>
              <a:effectLst/>
              <a:latin typeface="+mn-lt"/>
              <a:ea typeface="MS Mincho" panose="02020609040205080304" pitchFamily="49" charset="-128"/>
              <a:cs typeface="Times New Roman" panose="02020603050405020304" pitchFamily="18" charset="0"/>
            </a:endParaRPr>
          </a:p>
          <a:p>
            <a:pPr>
              <a:lnSpc>
                <a:spcPct val="100000"/>
              </a:lnSpc>
              <a:spcAft>
                <a:spcPts val="1000"/>
              </a:spcAft>
              <a:buNone/>
            </a:pPr>
            <a:r>
              <a:rPr lang="en-US" sz="1800" dirty="0">
                <a:solidFill>
                  <a:schemeClr val="tx1"/>
                </a:solidFill>
                <a:effectLst/>
                <a:latin typeface="+mn-lt"/>
                <a:ea typeface="MS Mincho" panose="02020609040205080304" pitchFamily="49" charset="-128"/>
                <a:cs typeface="Times New Roman" panose="02020603050405020304" pitchFamily="18" charset="0"/>
              </a:rPr>
              <a:t>The most valuable part of the work is also the critical assessment. The saved report indicates uneven performance across classes, and the training and evaluation pipeline needs to be reproduced and tightened before we rely on the reported results.</a:t>
            </a:r>
            <a:endParaRPr lang="en-IN" sz="1800" dirty="0">
              <a:solidFill>
                <a:schemeClr val="tx1"/>
              </a:solidFill>
              <a:effectLst/>
              <a:latin typeface="+mn-lt"/>
              <a:ea typeface="MS Mincho" panose="02020609040205080304" pitchFamily="49" charset="-128"/>
              <a:cs typeface="Times New Roman" panose="02020603050405020304" pitchFamily="18" charset="0"/>
            </a:endParaRPr>
          </a:p>
          <a:p>
            <a:pPr>
              <a:lnSpc>
                <a:spcPct val="100000"/>
              </a:lnSpc>
              <a:spcAft>
                <a:spcPts val="1000"/>
              </a:spcAft>
              <a:buNone/>
            </a:pPr>
            <a:r>
              <a:rPr lang="en-US" sz="1800" dirty="0">
                <a:solidFill>
                  <a:schemeClr val="tx1"/>
                </a:solidFill>
                <a:effectLst/>
                <a:latin typeface="+mn-lt"/>
                <a:ea typeface="MS Mincho" panose="02020609040205080304" pitchFamily="49" charset="-128"/>
                <a:cs typeface="Times New Roman" panose="02020603050405020304" pitchFamily="18" charset="0"/>
              </a:rPr>
              <a:t>I bring three perspectives: the thinker who frames the right problem and challenges assumptions; the architect who designs a maintainable solution; and the engineer who implements the pipeline and makes it testable.</a:t>
            </a:r>
            <a:endParaRPr lang="en-IN" sz="1800" dirty="0">
              <a:solidFill>
                <a:schemeClr val="tx1"/>
              </a:solidFill>
              <a:effectLst/>
              <a:latin typeface="+mn-lt"/>
              <a:ea typeface="MS Mincho" panose="02020609040205080304" pitchFamily="49" charset="-128"/>
              <a:cs typeface="Times New Roman" panose="02020603050405020304" pitchFamily="18" charset="0"/>
            </a:endParaRPr>
          </a:p>
          <a:p>
            <a:pPr>
              <a:lnSpc>
                <a:spcPct val="100000"/>
              </a:lnSpc>
              <a:spcAft>
                <a:spcPts val="1000"/>
              </a:spcAft>
              <a:buNone/>
            </a:pPr>
            <a:r>
              <a:rPr lang="en-US" sz="1800" dirty="0">
                <a:solidFill>
                  <a:schemeClr val="tx1"/>
                </a:solidFill>
                <a:effectLst/>
                <a:latin typeface="+mn-lt"/>
                <a:ea typeface="MS Mincho" panose="02020609040205080304" pitchFamily="49" charset="-128"/>
                <a:cs typeface="Times New Roman" panose="02020603050405020304" pitchFamily="18" charset="0"/>
              </a:rPr>
              <a:t>My proposed next step with a client would be to choose one clearly defined discharge or follow-up workflow, validate the data, agree on metrics and thresholds, and run a controlled evaluation with clinical and operational stakeholders.</a:t>
            </a:r>
            <a:endParaRPr lang="en-IN" sz="1800" dirty="0">
              <a:solidFill>
                <a:schemeClr val="tx1"/>
              </a:solidFill>
              <a:effectLst/>
              <a:latin typeface="+mn-lt"/>
              <a:ea typeface="MS Mincho" panose="02020609040205080304" pitchFamily="49" charset="-128"/>
              <a:cs typeface="Times New Roman" panose="02020603050405020304" pitchFamily="18" charset="0"/>
            </a:endParaRPr>
          </a:p>
          <a:p>
            <a:pPr>
              <a:lnSpc>
                <a:spcPct val="100000"/>
              </a:lnSpc>
              <a:spcAft>
                <a:spcPts val="1000"/>
              </a:spcAft>
              <a:buNone/>
            </a:pPr>
            <a:r>
              <a:rPr lang="en-US" sz="1800" dirty="0">
                <a:solidFill>
                  <a:schemeClr val="tx1"/>
                </a:solidFill>
                <a:effectLst/>
                <a:latin typeface="+mn-lt"/>
                <a:ea typeface="MS Mincho" panose="02020609040205080304" pitchFamily="49" charset="-128"/>
                <a:cs typeface="Times New Roman" panose="02020603050405020304" pitchFamily="18" charset="0"/>
              </a:rPr>
              <a:t>Thank you. I’d be happy to discuss the technical choices, the validation plan, or how I would adapt this approach to a real healthcare environment.”</a:t>
            </a:r>
            <a:endParaRPr lang="en-IN" sz="1050" dirty="0">
              <a:solidFill>
                <a:srgbClr val="23303F"/>
              </a:solidFill>
              <a:effectLst/>
              <a:latin typeface="Aptos" panose="020B0004020202020204" pitchFamily="34" charset="0"/>
              <a:ea typeface="MS Mincho" panose="02020609040205080304" pitchFamily="49" charset="-128"/>
              <a:cs typeface="Times New Roman" panose="02020603050405020304" pitchFamily="18" charset="0"/>
            </a:endParaRPr>
          </a:p>
        </p:txBody>
      </p:sp>
    </p:spTree>
    <p:extLst>
      <p:ext uri="{BB962C8B-B14F-4D97-AF65-F5344CB8AC3E}">
        <p14:creationId xmlns:p14="http://schemas.microsoft.com/office/powerpoint/2010/main" val="1614553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2393</Words>
  <Application>Microsoft Office PowerPoint</Application>
  <PresentationFormat>Widescreen</PresentationFormat>
  <Paragraphs>85</Paragraphs>
  <Slides>12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MS Mincho</vt:lpstr>
      <vt:lpstr>Aptos</vt:lpstr>
      <vt:lpstr>Arial</vt:lpstr>
      <vt:lpstr>Calibri</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subrahmanyam uppaluru</dc:creator>
  <cp:lastModifiedBy>subrahmanyam uppaluru</cp:lastModifiedBy>
  <cp:revision>1</cp:revision>
  <dcterms:created xsi:type="dcterms:W3CDTF">2026-10-13T09:48:31Z</dcterms:created>
  <dcterms:modified xsi:type="dcterms:W3CDTF">2026-10-13T09:48:42Z</dcterms:modified>
</cp:coreProperties>
</file>